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0"/>
  </p:notesMasterIdLst>
  <p:handoutMasterIdLst>
    <p:handoutMasterId r:id="rId21"/>
  </p:handoutMasterIdLst>
  <p:sldIdLst>
    <p:sldId id="480" r:id="rId2"/>
    <p:sldId id="443" r:id="rId3"/>
    <p:sldId id="444" r:id="rId4"/>
    <p:sldId id="445" r:id="rId5"/>
    <p:sldId id="446" r:id="rId6"/>
    <p:sldId id="465" r:id="rId7"/>
    <p:sldId id="448" r:id="rId8"/>
    <p:sldId id="486" r:id="rId9"/>
    <p:sldId id="487" r:id="rId10"/>
    <p:sldId id="488" r:id="rId11"/>
    <p:sldId id="496" r:id="rId12"/>
    <p:sldId id="495" r:id="rId13"/>
    <p:sldId id="490" r:id="rId14"/>
    <p:sldId id="489" r:id="rId15"/>
    <p:sldId id="491" r:id="rId16"/>
    <p:sldId id="492" r:id="rId17"/>
    <p:sldId id="493" r:id="rId18"/>
    <p:sldId id="494" r:id="rId19"/>
  </p:sldIdLst>
  <p:sldSz cx="9144000" cy="6858000" type="screen4x3"/>
  <p:notesSz cx="6818313" cy="98663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umimoji="1" sz="1200" b="1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orient="horz" pos="2727">
          <p15:clr>
            <a:srgbClr val="A4A3A4"/>
          </p15:clr>
        </p15:guide>
        <p15:guide id="3" orient="horz" pos="1003">
          <p15:clr>
            <a:srgbClr val="A4A3A4"/>
          </p15:clr>
        </p15:guide>
        <p15:guide id="4" orient="horz" pos="2568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3271">
          <p15:clr>
            <a:srgbClr val="A4A3A4"/>
          </p15:clr>
        </p15:guide>
        <p15:guide id="7" pos="5035">
          <p15:clr>
            <a:srgbClr val="A4A3A4"/>
          </p15:clr>
        </p15:guide>
        <p15:guide id="8" pos="1202">
          <p15:clr>
            <a:srgbClr val="A4A3A4"/>
          </p15:clr>
        </p15:guide>
        <p15:guide id="9" pos="5420">
          <p15:clr>
            <a:srgbClr val="A4A3A4"/>
          </p15:clr>
        </p15:guide>
        <p15:guide id="10" pos="3288">
          <p15:clr>
            <a:srgbClr val="A4A3A4"/>
          </p15:clr>
        </p15:guide>
        <p15:guide id="11" pos="703">
          <p15:clr>
            <a:srgbClr val="A4A3A4"/>
          </p15:clr>
        </p15:guide>
        <p15:guide id="12" pos="5511">
          <p15:clr>
            <a:srgbClr val="A4A3A4"/>
          </p15:clr>
        </p15:guide>
        <p15:guide id="13" pos="3266">
          <p15:clr>
            <a:srgbClr val="A4A3A4"/>
          </p15:clr>
        </p15:guide>
        <p15:guide id="14" pos="34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FBF"/>
    <a:srgbClr val="0099FF"/>
    <a:srgbClr val="3B78CE"/>
    <a:srgbClr val="BFDFCA"/>
    <a:srgbClr val="BFEDC4"/>
    <a:srgbClr val="C8E4C9"/>
    <a:srgbClr val="33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51" autoAdjust="0"/>
  </p:normalViewPr>
  <p:slideViewPr>
    <p:cSldViewPr>
      <p:cViewPr varScale="1">
        <p:scale>
          <a:sx n="102" d="100"/>
          <a:sy n="102" d="100"/>
        </p:scale>
        <p:origin x="2280" y="102"/>
      </p:cViewPr>
      <p:guideLst>
        <p:guide orient="horz" pos="2183"/>
        <p:guide orient="horz" pos="2727"/>
        <p:guide orient="horz" pos="1003"/>
        <p:guide orient="horz" pos="2568"/>
        <p:guide orient="horz" pos="1253"/>
        <p:guide orient="horz" pos="3271"/>
        <p:guide pos="5035"/>
        <p:guide pos="1202"/>
        <p:guide pos="5420"/>
        <p:guide pos="3288"/>
        <p:guide pos="703"/>
        <p:guide pos="5511"/>
        <p:guide pos="3266"/>
        <p:guide pos="3402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366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8E0EE47-6383-F36E-614F-EBBE6851F9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43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buFontTx/>
              <a:buNone/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9430F02-5793-7A44-1E57-64DB95FE8B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9543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buFontTx/>
              <a:buNone/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7737053C-987F-C58C-368D-28078F3BEE8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543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buFontTx/>
              <a:buNone/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34122981-8EA8-C6A8-6F68-91F4A5BC1D1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372600"/>
            <a:ext cx="29543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/>
            </a:lvl1pPr>
          </a:lstStyle>
          <a:p>
            <a:pPr>
              <a:defRPr/>
            </a:pPr>
            <a:fld id="{B9F68DE1-D768-4380-8589-66900F41C48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2DDA9E85-D1B4-014B-4EDD-52EE4F95A1A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43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buFontTx/>
              <a:buNone/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4307" name="Rectangle 3">
            <a:extLst>
              <a:ext uri="{FF2B5EF4-FFF2-40B4-BE49-F238E27FC236}">
                <a16:creationId xmlns:a16="http://schemas.microsoft.com/office/drawing/2014/main" id="{31EE71F4-B184-AEF5-2F3E-32A2E82973C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62388" y="0"/>
            <a:ext cx="29543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buFontTx/>
              <a:buNone/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A283164-8FAE-49AB-2962-7CD6EF59988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39775"/>
            <a:ext cx="4932363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4309" name="Rectangle 5">
            <a:extLst>
              <a:ext uri="{FF2B5EF4-FFF2-40B4-BE49-F238E27FC236}">
                <a16:creationId xmlns:a16="http://schemas.microsoft.com/office/drawing/2014/main" id="{C3925DC1-686D-3D22-ECCA-695B0E6BD5B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686300"/>
            <a:ext cx="5454650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54310" name="Rectangle 6">
            <a:extLst>
              <a:ext uri="{FF2B5EF4-FFF2-40B4-BE49-F238E27FC236}">
                <a16:creationId xmlns:a16="http://schemas.microsoft.com/office/drawing/2014/main" id="{895DEFE7-7CA9-C74D-EE3A-4A412993AA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543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buFontTx/>
              <a:buNone/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4311" name="Rectangle 7">
            <a:extLst>
              <a:ext uri="{FF2B5EF4-FFF2-40B4-BE49-F238E27FC236}">
                <a16:creationId xmlns:a16="http://schemas.microsoft.com/office/drawing/2014/main" id="{F765A160-93BF-8DBE-EF44-17AC76A70A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2388" y="9371013"/>
            <a:ext cx="29543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b="0"/>
            </a:lvl1pPr>
          </a:lstStyle>
          <a:p>
            <a:pPr>
              <a:defRPr/>
            </a:pPr>
            <a:fld id="{C8139E0E-38DB-4ACF-BF81-31814BBA26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>
            <a:extLst>
              <a:ext uri="{FF2B5EF4-FFF2-40B4-BE49-F238E27FC236}">
                <a16:creationId xmlns:a16="http://schemas.microsoft.com/office/drawing/2014/main" id="{85B3DFAA-84E7-3AFB-AE03-09F88F1CBB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슬라이드 노트 개체 틀 2">
            <a:extLst>
              <a:ext uri="{FF2B5EF4-FFF2-40B4-BE49-F238E27FC236}">
                <a16:creationId xmlns:a16="http://schemas.microsoft.com/office/drawing/2014/main" id="{ECBDA374-846B-59CC-9C74-8864ACA19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슬라이드 번호 개체 틀 3">
            <a:extLst>
              <a:ext uri="{FF2B5EF4-FFF2-40B4-BE49-F238E27FC236}">
                <a16:creationId xmlns:a16="http://schemas.microsoft.com/office/drawing/2014/main" id="{98741E06-2778-888C-A1BD-BF7110625E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DEF731E3-13F5-4E19-BE4C-F4E38F20F16A}" type="slidenum">
              <a:rPr lang="en-US" altLang="ko-KR" b="0" smtClean="0"/>
              <a:pPr/>
              <a:t>2</a:t>
            </a:fld>
            <a:endParaRPr lang="en-US" altLang="ko-KR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>
            <a:extLst>
              <a:ext uri="{FF2B5EF4-FFF2-40B4-BE49-F238E27FC236}">
                <a16:creationId xmlns:a16="http://schemas.microsoft.com/office/drawing/2014/main" id="{DB0DCFA4-5D87-23F2-B126-9435954E9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슬라이드 노트 개체 틀 2">
            <a:extLst>
              <a:ext uri="{FF2B5EF4-FFF2-40B4-BE49-F238E27FC236}">
                <a16:creationId xmlns:a16="http://schemas.microsoft.com/office/drawing/2014/main" id="{9877B8AB-AB77-2A56-0BCA-0D91CA37E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866957CA-2C84-7723-853F-80B610D52A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FBDEBB72-1D54-421D-B7B5-9A7CE126B6D1}" type="slidenum">
              <a:rPr lang="en-US" altLang="ko-KR" b="0" smtClean="0"/>
              <a:pPr/>
              <a:t>3</a:t>
            </a:fld>
            <a:endParaRPr lang="en-US" altLang="ko-KR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466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A1F1DC1-7FB0-4B2F-287C-A7CFBD23E898}"/>
              </a:ext>
            </a:extLst>
          </p:cNvPr>
          <p:cNvSpPr/>
          <p:nvPr userDrawn="1"/>
        </p:nvSpPr>
        <p:spPr bwMode="auto">
          <a:xfrm>
            <a:off x="250825" y="1125538"/>
            <a:ext cx="8642350" cy="52911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spAutoFit/>
          </a:bodyPr>
          <a:lstStyle/>
          <a:p>
            <a:pPr marL="609600" indent="-609600" eaLnBrk="1" latinLnBrk="1" hangingPunct="1">
              <a:buFontTx/>
              <a:buAutoNum type="romanUcPeriod"/>
              <a:defRPr/>
            </a:pP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1141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2319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98149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056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0412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92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53219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7614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1370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5845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77806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8181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940B23F6-4424-230F-5786-6306394D5B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7800" y="6499225"/>
            <a:ext cx="8788400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1" hangingPunct="1">
              <a:spcBef>
                <a:spcPct val="50000"/>
              </a:spcBef>
              <a:defRPr/>
            </a:pPr>
            <a:fld id="{FF4ED641-52F3-4B99-BC8D-8B5EB57A5E6A}" type="slidenum">
              <a:rPr lang="en-US" altLang="ko-KR" smtClean="0">
                <a:solidFill>
                  <a:schemeClr val="accent4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pPr algn="r" eaLnBrk="1" latin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dirty="0">
              <a:solidFill>
                <a:schemeClr val="accent4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AAA3466-F80A-450C-AA5C-79C987BBA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83028"/>
              </p:ext>
            </p:extLst>
          </p:nvPr>
        </p:nvGraphicFramePr>
        <p:xfrm>
          <a:off x="0" y="1588"/>
          <a:ext cx="9143999" cy="742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5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8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323">
                <a:tc rowSpan="3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T="45697" marB="45697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굴림체" pitchFamily="49" charset="-127"/>
                          <a:ea typeface="굴림체" pitchFamily="49" charset="-127"/>
                        </a:rPr>
                        <a:t>UI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굴림체" pitchFamily="49" charset="-127"/>
                          <a:ea typeface="굴림체" pitchFamily="49" charset="-127"/>
                        </a:rPr>
                        <a:t>구현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굴림체" pitchFamily="49" charset="-127"/>
                          <a:ea typeface="굴림체" pitchFamily="49" charset="-127"/>
                        </a:rPr>
                        <a:t>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굴림체" pitchFamily="49" charset="-127"/>
                          <a:ea typeface="굴림체" pitchFamily="49" charset="-127"/>
                        </a:rPr>
                        <a:t>표준 가이드</a:t>
                      </a:r>
                    </a:p>
                  </a:txBody>
                  <a:tcPr marT="45697" marB="45697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14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프로젝트</a:t>
                      </a:r>
                      <a:r>
                        <a:rPr lang="en-US" altLang="ko-KR" sz="800" b="0" dirty="0">
                          <a:latin typeface="굴림체" pitchFamily="49" charset="-127"/>
                          <a:ea typeface="굴림체" pitchFamily="49" charset="-127"/>
                        </a:rPr>
                        <a:t>:</a:t>
                      </a: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프로젝트명 기술</a:t>
                      </a:r>
                    </a:p>
                  </a:txBody>
                  <a:tcPr marT="45697" marB="45697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단계</a:t>
                      </a:r>
                      <a:r>
                        <a:rPr lang="en-US" altLang="ko-KR" sz="800" b="0" dirty="0">
                          <a:latin typeface="굴림체" pitchFamily="49" charset="-127"/>
                          <a:ea typeface="굴림체" pitchFamily="49" charset="-127"/>
                        </a:rPr>
                        <a:t>: UI </a:t>
                      </a: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구현</a:t>
                      </a:r>
                    </a:p>
                  </a:txBody>
                  <a:tcPr marT="45697" marB="45697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14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문서번호</a:t>
                      </a:r>
                      <a:r>
                        <a:rPr lang="en-US" altLang="ko-KR" sz="800" b="0" dirty="0">
                          <a:latin typeface="굴림체" pitchFamily="49" charset="-127"/>
                          <a:ea typeface="굴림체" pitchFamily="49" charset="-127"/>
                        </a:rPr>
                        <a:t>: </a:t>
                      </a:r>
                      <a:endParaRPr lang="ko-KR" altLang="en-US" sz="800" b="0" dirty="0"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697" marB="45697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버전</a:t>
                      </a:r>
                      <a:r>
                        <a:rPr lang="en-US" altLang="ko-KR" sz="800" b="0" dirty="0">
                          <a:latin typeface="굴림체" pitchFamily="49" charset="-127"/>
                          <a:ea typeface="굴림체" pitchFamily="49" charset="-127"/>
                        </a:rPr>
                        <a:t>: </a:t>
                      </a: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모바일</a:t>
                      </a:r>
                      <a:r>
                        <a:rPr lang="en-US" altLang="ko-KR" sz="800" b="0" dirty="0">
                          <a:latin typeface="굴림체" pitchFamily="49" charset="-127"/>
                          <a:ea typeface="굴림체" pitchFamily="49" charset="-127"/>
                        </a:rPr>
                        <a:t>/</a:t>
                      </a: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앱</a:t>
                      </a:r>
                      <a:r>
                        <a:rPr lang="en-US" altLang="ko-KR" sz="800" b="0" dirty="0">
                          <a:latin typeface="굴림체" pitchFamily="49" charset="-127"/>
                          <a:ea typeface="굴림체" pitchFamily="49" charset="-127"/>
                        </a:rPr>
                        <a:t>(1.0)</a:t>
                      </a:r>
                      <a:endParaRPr lang="ko-KR" altLang="en-US" sz="800" b="0" dirty="0"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697" marB="45697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굴림체" pitchFamily="49" charset="-127"/>
                          <a:ea typeface="굴림체" pitchFamily="49" charset="-127"/>
                        </a:rPr>
                        <a:t>작성일자</a:t>
                      </a:r>
                      <a:r>
                        <a:rPr lang="en-US" altLang="ko-KR" sz="800" b="0" dirty="0">
                          <a:latin typeface="굴림체" pitchFamily="49" charset="-127"/>
                          <a:ea typeface="굴림체" pitchFamily="49" charset="-127"/>
                        </a:rPr>
                        <a:t>: 2026/02/09</a:t>
                      </a:r>
                      <a:endParaRPr lang="ko-KR" altLang="en-US" sz="800" b="0" dirty="0"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T="45697" marB="45697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44" name="그림 5">
            <a:extLst>
              <a:ext uri="{FF2B5EF4-FFF2-40B4-BE49-F238E27FC236}">
                <a16:creationId xmlns:a16="http://schemas.microsoft.com/office/drawing/2014/main" id="{27388567-AE82-6D5B-7654-1F393381598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0825" y="250825"/>
            <a:ext cx="16668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7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BC7C5DFB-2E45-2ACE-FDA0-64C2A1190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8" y="219075"/>
            <a:ext cx="7027862" cy="2333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  <a:defRPr/>
            </a:pPr>
            <a:endParaRPr lang="ko-KR" altLang="en-US"/>
          </a:p>
        </p:txBody>
      </p:sp>
      <p:sp>
        <p:nvSpPr>
          <p:cNvPr id="4099" name="Rectangle 4">
            <a:extLst>
              <a:ext uri="{FF2B5EF4-FFF2-40B4-BE49-F238E27FC236}">
                <a16:creationId xmlns:a16="http://schemas.microsoft.com/office/drawing/2014/main" id="{CA16A567-B1A7-7E0E-9A52-29BAF7B37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8" y="6461125"/>
            <a:ext cx="9144001" cy="177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none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  <a:defRPr/>
            </a:pPr>
            <a:endParaRPr lang="ko-KR" altLang="en-US"/>
          </a:p>
        </p:txBody>
      </p:sp>
      <p:sp>
        <p:nvSpPr>
          <p:cNvPr id="5124" name="Text Box 8">
            <a:extLst>
              <a:ext uri="{FF2B5EF4-FFF2-40B4-BE49-F238E27FC236}">
                <a16:creationId xmlns:a16="http://schemas.microsoft.com/office/drawing/2014/main" id="{798FA9E1-1996-18A3-0D9A-A72A633C3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7267" y="1658938"/>
            <a:ext cx="6032421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fontAlgn="ctr" hangingPunct="1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ko-KR" sz="4800" b="0" dirty="0">
                <a:latin typeface="굴림체" panose="020B0609000101010101" pitchFamily="49" charset="-127"/>
                <a:ea typeface="굴림체" panose="020B0609000101010101" pitchFamily="49" charset="-127"/>
              </a:rPr>
              <a:t>UI </a:t>
            </a:r>
            <a:r>
              <a:rPr lang="ko-KR" altLang="en-US" sz="4800" b="0">
                <a:latin typeface="굴림체" panose="020B0609000101010101" pitchFamily="49" charset="-127"/>
                <a:ea typeface="굴림체" panose="020B0609000101010101" pitchFamily="49" charset="-127"/>
              </a:rPr>
              <a:t>구현 표준 가이드</a:t>
            </a:r>
            <a:endParaRPr lang="ko-KR" altLang="en-US" sz="4800">
              <a:solidFill>
                <a:srgbClr val="000000"/>
              </a:solidFill>
              <a:latin typeface="Kozuka Mincho Pro M" pitchFamily="18" charset="-128"/>
              <a:ea typeface="굴림" panose="020B0600000101010101" pitchFamily="50" charset="-127"/>
            </a:endParaRPr>
          </a:p>
        </p:txBody>
      </p:sp>
      <p:sp>
        <p:nvSpPr>
          <p:cNvPr id="3078" name="Rectangle 10">
            <a:extLst>
              <a:ext uri="{FF2B5EF4-FFF2-40B4-BE49-F238E27FC236}">
                <a16:creationId xmlns:a16="http://schemas.microsoft.com/office/drawing/2014/main" id="{DD0BAE79-EF45-7073-5100-607D5739F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4560888"/>
            <a:ext cx="3949700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4960" tIns="47480" rIns="94960" bIns="47480"/>
          <a:lstStyle/>
          <a:p>
            <a:pPr algn="r" eaLnBrk="1" latinLnBrk="1" hangingPunct="1">
              <a:defRPr/>
            </a:pPr>
            <a:r>
              <a:rPr lang="ko-KR" altLang="en-US" sz="1800" b="0" dirty="0">
                <a:latin typeface="+mj-lt"/>
              </a:rPr>
              <a:t>작 성 자 </a:t>
            </a:r>
            <a:r>
              <a:rPr lang="en-US" altLang="ko-KR" sz="1800" b="0" dirty="0">
                <a:latin typeface="+mj-lt"/>
              </a:rPr>
              <a:t>: </a:t>
            </a:r>
            <a:r>
              <a:rPr lang="ko-KR" altLang="en-US" sz="1800" b="0" dirty="0" err="1">
                <a:latin typeface="+mj-lt"/>
              </a:rPr>
              <a:t>ㅇㅇㅇ</a:t>
            </a:r>
            <a:endParaRPr lang="ko-KR" altLang="en-US" sz="1800" b="0" dirty="0">
              <a:latin typeface="+mj-lt"/>
            </a:endParaRPr>
          </a:p>
        </p:txBody>
      </p:sp>
      <p:pic>
        <p:nvPicPr>
          <p:cNvPr id="5126" name="그림 11">
            <a:extLst>
              <a:ext uri="{FF2B5EF4-FFF2-40B4-BE49-F238E27FC236}">
                <a16:creationId xmlns:a16="http://schemas.microsoft.com/office/drawing/2014/main" id="{FDA66846-5BB3-4E22-B8D0-8927A8279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5900" y="214313"/>
            <a:ext cx="16668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42D16A37-3617-99FC-BD87-4CDF3C8EC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80010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목차</a:t>
            </a:r>
          </a:p>
        </p:txBody>
      </p:sp>
      <p:grpSp>
        <p:nvGrpSpPr>
          <p:cNvPr id="6147" name="그룹 16">
            <a:extLst>
              <a:ext uri="{FF2B5EF4-FFF2-40B4-BE49-F238E27FC236}">
                <a16:creationId xmlns:a16="http://schemas.microsoft.com/office/drawing/2014/main" id="{4F2B6A65-A809-2099-E61C-4AD31E61849E}"/>
              </a:ext>
            </a:extLst>
          </p:cNvPr>
          <p:cNvGrpSpPr>
            <a:grpSpLocks/>
          </p:cNvGrpSpPr>
          <p:nvPr/>
        </p:nvGrpSpPr>
        <p:grpSpPr bwMode="auto">
          <a:xfrm>
            <a:off x="1433513" y="1914525"/>
            <a:ext cx="3003550" cy="1201738"/>
            <a:chOff x="4870497" y="2316826"/>
            <a:chExt cx="3665157" cy="1199754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D775CEF0-AEF5-CC93-A09A-59309B2CB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110" y="2316826"/>
              <a:ext cx="3591544" cy="1199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latin typeface="굴림" charset="-127"/>
                  <a:ea typeface="굴림" charset="-127"/>
                </a:rPr>
                <a:t>1 UI </a:t>
              </a:r>
              <a:r>
                <a:rPr lang="ko-KR" altLang="en-US" sz="1600" dirty="0">
                  <a:latin typeface="굴림" charset="-127"/>
                  <a:ea typeface="굴림" charset="-127"/>
                </a:rPr>
                <a:t>가이드 </a:t>
              </a:r>
              <a:endParaRPr lang="en-US" altLang="ko-KR" sz="160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endParaRPr lang="ko-KR" altLang="en-US" sz="140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r>
                <a:rPr lang="ko-KR" altLang="en-US" sz="1400" dirty="0">
                  <a:latin typeface="굴림" charset="-127"/>
                  <a:ea typeface="굴림" charset="-127"/>
                </a:rPr>
                <a:t>   </a:t>
              </a:r>
              <a:r>
                <a:rPr lang="en-US" altLang="ko-KR" sz="1400" b="0" dirty="0">
                  <a:latin typeface="굴림" charset="-127"/>
                  <a:ea typeface="굴림" charset="-127"/>
                </a:rPr>
                <a:t>1.1 UI</a:t>
              </a:r>
              <a:r>
                <a:rPr lang="ko-KR" altLang="en-US" sz="1400" b="0" dirty="0">
                  <a:latin typeface="굴림" charset="-127"/>
                  <a:ea typeface="굴림" charset="-127"/>
                </a:rPr>
                <a:t> 레이아웃</a:t>
              </a:r>
            </a:p>
            <a:p>
              <a:pPr marL="457200" indent="-457200" eaLnBrk="1" latinLnBrk="1" hangingPunct="1">
                <a:defRPr/>
              </a:pPr>
              <a:r>
                <a:rPr lang="ko-KR" altLang="en-US" sz="1400" b="0" dirty="0">
                  <a:latin typeface="굴림" charset="-127"/>
                  <a:ea typeface="굴림" charset="-127"/>
                </a:rPr>
                <a:t>   </a:t>
              </a:r>
              <a:r>
                <a:rPr lang="en-US" altLang="ko-KR" sz="1400" b="0" dirty="0">
                  <a:latin typeface="굴림" charset="-127"/>
                  <a:ea typeface="굴림" charset="-127"/>
                </a:rPr>
                <a:t>1.2 UI</a:t>
              </a:r>
              <a:r>
                <a:rPr lang="ko-KR" altLang="en-US" sz="1400" b="0" dirty="0">
                  <a:latin typeface="굴림" charset="-127"/>
                  <a:ea typeface="굴림" charset="-127"/>
                </a:rPr>
                <a:t> </a:t>
              </a:r>
              <a:r>
                <a:rPr lang="ko-KR" altLang="en-US" sz="1400" b="0" dirty="0" err="1">
                  <a:latin typeface="굴림" charset="-127"/>
                  <a:ea typeface="굴림" charset="-127"/>
                </a:rPr>
                <a:t>그리드</a:t>
              </a:r>
              <a:r>
                <a:rPr lang="ko-KR" altLang="en-US" sz="1400" b="0" dirty="0">
                  <a:latin typeface="굴림" charset="-127"/>
                  <a:ea typeface="굴림" charset="-127"/>
                </a:rPr>
                <a:t> 시스템</a:t>
              </a:r>
            </a:p>
            <a:p>
              <a:pPr marL="457200" indent="-457200" eaLnBrk="1" latinLnBrk="1" hangingPunct="1">
                <a:defRPr/>
              </a:pPr>
              <a:r>
                <a:rPr lang="ko-KR" altLang="en-US" sz="1400" b="0" dirty="0">
                  <a:latin typeface="굴림" charset="-127"/>
                  <a:ea typeface="굴림" charset="-127"/>
                </a:rPr>
                <a:t>   </a:t>
              </a:r>
              <a:r>
                <a:rPr lang="en-US" altLang="ko-KR" sz="1400" b="0" dirty="0">
                  <a:latin typeface="굴림" charset="-127"/>
                  <a:ea typeface="굴림" charset="-127"/>
                </a:rPr>
                <a:t>1.3 Header &amp; Title &amp; Footer</a:t>
              </a:r>
              <a:r>
                <a:rPr lang="ko-KR" altLang="en-US" sz="1400" b="0" dirty="0">
                  <a:latin typeface="굴림" charset="-127"/>
                  <a:ea typeface="굴림" charset="-127"/>
                </a:rPr>
                <a:t>   </a:t>
              </a:r>
            </a:p>
          </p:txBody>
        </p:sp>
        <p:cxnSp>
          <p:nvCxnSpPr>
            <p:cNvPr id="5129" name="직선 연결선 12">
              <a:extLst>
                <a:ext uri="{FF2B5EF4-FFF2-40B4-BE49-F238E27FC236}">
                  <a16:creationId xmlns:a16="http://schemas.microsoft.com/office/drawing/2014/main" id="{2A8F1C67-50AE-0A1D-D973-E73152B553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70497" y="2698782"/>
              <a:ext cx="2231639" cy="1584"/>
            </a:xfrm>
            <a:prstGeom prst="line">
              <a:avLst/>
            </a:prstGeom>
            <a:noFill/>
            <a:ln w="19050" algn="ctr">
              <a:solidFill>
                <a:schemeClr val="tx2">
                  <a:lumMod val="50000"/>
                  <a:lumOff val="50000"/>
                </a:schemeClr>
              </a:solidFill>
              <a:round/>
              <a:headEnd/>
              <a:tailEnd/>
            </a:ln>
          </p:spPr>
        </p:cxnSp>
      </p:grpSp>
      <p:grpSp>
        <p:nvGrpSpPr>
          <p:cNvPr id="6148" name="그룹 16">
            <a:extLst>
              <a:ext uri="{FF2B5EF4-FFF2-40B4-BE49-F238E27FC236}">
                <a16:creationId xmlns:a16="http://schemas.microsoft.com/office/drawing/2014/main" id="{110346EF-7212-024B-91E1-43B0F4C2A511}"/>
              </a:ext>
            </a:extLst>
          </p:cNvPr>
          <p:cNvGrpSpPr>
            <a:grpSpLocks/>
          </p:cNvGrpSpPr>
          <p:nvPr/>
        </p:nvGrpSpPr>
        <p:grpSpPr bwMode="auto">
          <a:xfrm>
            <a:off x="3671888" y="3429030"/>
            <a:ext cx="3286125" cy="2062103"/>
            <a:chOff x="4888105" y="2405079"/>
            <a:chExt cx="3189142" cy="2061518"/>
          </a:xfrm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18C79951-7383-5B48-4692-70CA27178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3568" y="2405079"/>
              <a:ext cx="3133679" cy="2061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latinLnBrk="1" hangingPunct="1">
                <a:spcBef>
                  <a:spcPct val="50000"/>
                </a:spcBef>
                <a:defRPr/>
              </a:pPr>
              <a:r>
                <a:rPr lang="en-US" altLang="ko-KR" sz="1600" dirty="0">
                  <a:latin typeface="굴림" charset="-127"/>
                  <a:ea typeface="굴림" charset="-127"/>
                </a:rPr>
                <a:t>2 UI </a:t>
              </a:r>
              <a:r>
                <a:rPr lang="ko-KR" altLang="en-US" sz="1600" dirty="0">
                  <a:latin typeface="굴림" charset="-127"/>
                  <a:ea typeface="굴림" charset="-127"/>
                </a:rPr>
                <a:t>구현 표준 가이드 </a:t>
              </a:r>
              <a:endParaRPr lang="en-US" altLang="ko-KR" sz="160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endParaRPr lang="ko-KR" altLang="en-US" sz="140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r>
                <a:rPr lang="en-US" altLang="ko-KR" sz="1400" b="0" dirty="0">
                  <a:latin typeface="굴림" charset="-127"/>
                  <a:ea typeface="굴림" charset="-127"/>
                </a:rPr>
                <a:t>   2.1 </a:t>
              </a:r>
              <a:r>
                <a:rPr lang="ko-KR" altLang="en-US" sz="1400" b="0" dirty="0">
                  <a:ea typeface="굴림" charset="-127"/>
                </a:rPr>
                <a:t>규칙</a:t>
              </a:r>
              <a:endParaRPr lang="ko-KR" altLang="en-US" sz="1400" b="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r>
                <a:rPr lang="ko-KR" altLang="en-US" sz="1400" b="0" dirty="0">
                  <a:latin typeface="굴림" charset="-127"/>
                  <a:ea typeface="굴림" charset="-127"/>
                </a:rPr>
                <a:t>   </a:t>
              </a:r>
              <a:r>
                <a:rPr lang="en-US" altLang="ko-KR" sz="1400" b="0" dirty="0">
                  <a:latin typeface="굴림" charset="-127"/>
                  <a:ea typeface="굴림" charset="-127"/>
                </a:rPr>
                <a:t>2.2 </a:t>
              </a:r>
              <a:r>
                <a:rPr lang="ko-KR" altLang="en-US" sz="1400" b="0" dirty="0">
                  <a:latin typeface="굴림" charset="-127"/>
                  <a:ea typeface="굴림" charset="-127"/>
                </a:rPr>
                <a:t>용어</a:t>
              </a:r>
            </a:p>
            <a:p>
              <a:pPr marL="457200" indent="-457200" eaLnBrk="1" latinLnBrk="1" hangingPunct="1">
                <a:defRPr/>
              </a:pPr>
              <a:r>
                <a:rPr lang="ko-KR" altLang="en-US" sz="1400" b="0" dirty="0">
                  <a:latin typeface="굴림" charset="-127"/>
                  <a:ea typeface="굴림" charset="-127"/>
                </a:rPr>
                <a:t>   </a:t>
              </a:r>
              <a:r>
                <a:rPr lang="en-US" altLang="ko-KR" sz="1400" b="0" dirty="0">
                  <a:latin typeface="굴림" charset="-127"/>
                  <a:ea typeface="굴림" charset="-127"/>
                </a:rPr>
                <a:t>2.3 </a:t>
              </a:r>
              <a:r>
                <a:rPr lang="ko-KR" altLang="en-US" sz="1400" b="0" dirty="0">
                  <a:latin typeface="굴림" charset="-127"/>
                  <a:ea typeface="굴림" charset="-127"/>
                </a:rPr>
                <a:t>초기파일</a:t>
              </a:r>
              <a:endParaRPr lang="en-US" altLang="ko-KR" sz="1400" b="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r>
                <a:rPr lang="en-US" altLang="ko-KR" sz="1400" b="0" dirty="0">
                  <a:latin typeface="굴림" charset="-127"/>
                  <a:ea typeface="굴림" charset="-127"/>
                </a:rPr>
                <a:t>   2.4 </a:t>
              </a:r>
              <a:r>
                <a:rPr lang="ko-KR" altLang="en-US" sz="1400" b="0" dirty="0">
                  <a:latin typeface="굴림" charset="-127"/>
                  <a:ea typeface="굴림" charset="-127"/>
                </a:rPr>
                <a:t>주석</a:t>
              </a:r>
              <a:endParaRPr lang="en-US" altLang="ko-KR" sz="1400" b="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r>
                <a:rPr lang="en-US" altLang="ko-KR" sz="1400" b="0" dirty="0">
                  <a:latin typeface="굴림" charset="-127"/>
                  <a:ea typeface="굴림" charset="-127"/>
                </a:rPr>
                <a:t>   2.5 </a:t>
              </a:r>
              <a:r>
                <a:rPr lang="en-US" altLang="ko-KR" sz="1400" b="0" dirty="0">
                  <a:ea typeface="굴림" charset="-127"/>
                </a:rPr>
                <a:t>HTML </a:t>
              </a:r>
              <a:r>
                <a:rPr lang="ko-KR" altLang="en-US" sz="1400" b="0" dirty="0" err="1">
                  <a:ea typeface="굴림" charset="-127"/>
                </a:rPr>
                <a:t>엘리먼트</a:t>
              </a:r>
              <a:r>
                <a:rPr lang="ko-KR" altLang="en-US" sz="1400" b="0" dirty="0">
                  <a:ea typeface="굴림" charset="-127"/>
                </a:rPr>
                <a:t> 작성 규칙</a:t>
              </a:r>
            </a:p>
            <a:p>
              <a:pPr marL="457200" indent="-457200" eaLnBrk="1" latinLnBrk="1" hangingPunct="1">
                <a:defRPr/>
              </a:pPr>
              <a:endParaRPr lang="ko-KR" altLang="en-US" sz="1400" b="0" dirty="0">
                <a:latin typeface="굴림" charset="-127"/>
                <a:ea typeface="굴림" charset="-127"/>
              </a:endParaRPr>
            </a:p>
            <a:p>
              <a:pPr marL="457200" indent="-457200" eaLnBrk="1" latinLnBrk="1" hangingPunct="1">
                <a:defRPr/>
              </a:pPr>
              <a:r>
                <a:rPr lang="ko-KR" altLang="en-US" sz="1400" b="0" dirty="0">
                  <a:latin typeface="굴림" charset="-127"/>
                  <a:ea typeface="굴림" charset="-127"/>
                </a:rPr>
                <a:t>   </a:t>
              </a:r>
            </a:p>
          </p:txBody>
        </p:sp>
        <p:cxnSp>
          <p:nvCxnSpPr>
            <p:cNvPr id="5127" name="직선 연결선 12">
              <a:extLst>
                <a:ext uri="{FF2B5EF4-FFF2-40B4-BE49-F238E27FC236}">
                  <a16:creationId xmlns:a16="http://schemas.microsoft.com/office/drawing/2014/main" id="{D48156EF-5B19-98E1-6EA1-98F7E340A7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88105" y="2828792"/>
              <a:ext cx="2232399" cy="1587"/>
            </a:xfrm>
            <a:prstGeom prst="line">
              <a:avLst/>
            </a:prstGeom>
            <a:noFill/>
            <a:ln w="19050" algn="ctr">
              <a:solidFill>
                <a:schemeClr val="tx2">
                  <a:lumMod val="50000"/>
                  <a:lumOff val="50000"/>
                </a:schemeClr>
              </a:solidFill>
              <a:round/>
              <a:headEnd/>
              <a:tailEnd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4">
            <a:extLst>
              <a:ext uri="{FF2B5EF4-FFF2-40B4-BE49-F238E27FC236}">
                <a16:creationId xmlns:a16="http://schemas.microsoft.com/office/drawing/2014/main" id="{7DE0E2F9-E9E9-E3B2-2BB4-4C4EB90CE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930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>
                <a:latin typeface="굴림" panose="020B0600000101010101" pitchFamily="50" charset="-127"/>
                <a:ea typeface="굴림" panose="020B0600000101010101" pitchFamily="50" charset="-127"/>
              </a:rPr>
              <a:t>1. UI </a:t>
            </a:r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가이드 </a:t>
            </a:r>
            <a:endParaRPr lang="en-US" altLang="ko-KR" sz="1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196" name="Text Box 5">
            <a:extLst>
              <a:ext uri="{FF2B5EF4-FFF2-40B4-BE49-F238E27FC236}">
                <a16:creationId xmlns:a16="http://schemas.microsoft.com/office/drawing/2014/main" id="{115ECAED-A2FF-D7BF-1986-CC5A9EDC9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8088"/>
            <a:ext cx="1462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1"/>
            <a:r>
              <a:rPr lang="en-US" altLang="ko-KR" sz="1400" b="0">
                <a:latin typeface="굴림" panose="020B0600000101010101" pitchFamily="50" charset="-127"/>
                <a:ea typeface="굴림" panose="020B0600000101010101" pitchFamily="50" charset="-127"/>
              </a:rPr>
              <a:t>1.1 UI</a:t>
            </a:r>
            <a:r>
              <a:rPr lang="ko-KR" altLang="en-US" sz="1400" b="0">
                <a:latin typeface="굴림" panose="020B0600000101010101" pitchFamily="50" charset="-127"/>
                <a:ea typeface="굴림" panose="020B0600000101010101" pitchFamily="50" charset="-127"/>
              </a:rPr>
              <a:t> 레이아웃</a:t>
            </a:r>
          </a:p>
        </p:txBody>
      </p:sp>
      <p:sp>
        <p:nvSpPr>
          <p:cNvPr id="8199" name="Text Box 23">
            <a:extLst>
              <a:ext uri="{FF2B5EF4-FFF2-40B4-BE49-F238E27FC236}">
                <a16:creationId xmlns:a16="http://schemas.microsoft.com/office/drawing/2014/main" id="{B2DD937C-098B-BD74-3494-8EC028D1D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2041524"/>
            <a:ext cx="3789362" cy="6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전체메뉴 아이콘 </a:t>
            </a: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spcBef>
                <a:spcPct val="50000"/>
              </a:spcBef>
            </a:pP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클릭 시 전체 메뉴가 상단에서 하단으로 펼쳐진다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spcBef>
                <a:spcPct val="50000"/>
              </a:spcBef>
            </a:pP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상위 메뉴 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hover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시 하위 메뉴가 나온다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spcBef>
                <a:spcPct val="50000"/>
              </a:spcBef>
            </a:pP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00" name="Text Box 24">
            <a:extLst>
              <a:ext uri="{FF2B5EF4-FFF2-40B4-BE49-F238E27FC236}">
                <a16:creationId xmlns:a16="http://schemas.microsoft.com/office/drawing/2014/main" id="{9D804B27-C56A-2793-B49F-9881620EC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2900288"/>
            <a:ext cx="220518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로고 </a:t>
            </a:r>
            <a:r>
              <a:rPr lang="en-US" altLang="ko-KR" sz="1100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클릭 시 홈으로 이동</a:t>
            </a: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spcBef>
                <a:spcPct val="50000"/>
              </a:spcBef>
            </a:pP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01" name="Oval 27">
            <a:extLst>
              <a:ext uri="{FF2B5EF4-FFF2-40B4-BE49-F238E27FC236}">
                <a16:creationId xmlns:a16="http://schemas.microsoft.com/office/drawing/2014/main" id="{CF41FB6D-9EF9-6D75-8A6E-07FFFD1BB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2079625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8202" name="Oval 28">
            <a:extLst>
              <a:ext uri="{FF2B5EF4-FFF2-40B4-BE49-F238E27FC236}">
                <a16:creationId xmlns:a16="http://schemas.microsoft.com/office/drawing/2014/main" id="{C93961F6-52A5-5AFD-2274-88D1413B8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2946760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8203" name="Oval 29">
            <a:extLst>
              <a:ext uri="{FF2B5EF4-FFF2-40B4-BE49-F238E27FC236}">
                <a16:creationId xmlns:a16="http://schemas.microsoft.com/office/drawing/2014/main" id="{13B2E1C9-B22B-33A0-71F2-1AAEAD4F9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3274430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</a:p>
        </p:txBody>
      </p:sp>
      <p:sp>
        <p:nvSpPr>
          <p:cNvPr id="8204" name="Rectangle 32">
            <a:extLst>
              <a:ext uri="{FF2B5EF4-FFF2-40B4-BE49-F238E27FC236}">
                <a16:creationId xmlns:a16="http://schemas.microsoft.com/office/drawing/2014/main" id="{0D56E210-F79B-C488-4847-B3356C16D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1557338"/>
            <a:ext cx="3144837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r>
              <a:rPr lang="ko-KR" altLang="en-US"/>
              <a:t>메인 페이지</a:t>
            </a:r>
          </a:p>
        </p:txBody>
      </p:sp>
      <p:sp>
        <p:nvSpPr>
          <p:cNvPr id="8205" name="Text Box 33">
            <a:extLst>
              <a:ext uri="{FF2B5EF4-FFF2-40B4-BE49-F238E27FC236}">
                <a16:creationId xmlns:a16="http://schemas.microsoft.com/office/drawing/2014/main" id="{A5D40B42-A55D-A3A1-79C6-367C0EA2F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770844"/>
            <a:ext cx="27813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01" tIns="42350" rIns="84701" bIns="42350">
            <a:spAutoFit/>
          </a:bodyPr>
          <a:lstStyle>
            <a:lvl1pPr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브라우저 가운데 정렬을 원칙으로 한다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8206" name="Text Box 38">
            <a:extLst>
              <a:ext uri="{FF2B5EF4-FFF2-40B4-BE49-F238E27FC236}">
                <a16:creationId xmlns:a16="http://schemas.microsoft.com/office/drawing/2014/main" id="{092B3B92-CDBA-6976-81A7-E1745DE5A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3922838"/>
            <a:ext cx="3789362" cy="246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이미지 아이콘을 활용한 링크</a:t>
            </a: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spcBef>
                <a:spcPct val="50000"/>
              </a:spcBef>
            </a:pP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해당 페이지로 이동 가능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07" name="Oval 39">
            <a:extLst>
              <a:ext uri="{FF2B5EF4-FFF2-40B4-BE49-F238E27FC236}">
                <a16:creationId xmlns:a16="http://schemas.microsoft.com/office/drawing/2014/main" id="{7946D4DD-DE20-DF6C-D588-5FA512FAF8E2}"/>
              </a:ext>
            </a:extLst>
          </p:cNvPr>
          <p:cNvSpPr>
            <a:spLocks noChangeArrowheads="1"/>
          </p:cNvSpPr>
          <p:nvPr/>
        </p:nvSpPr>
        <p:spPr bwMode="auto">
          <a:xfrm rot="154154">
            <a:off x="544283" y="3958630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208" name="Text Box 40">
            <a:extLst>
              <a:ext uri="{FF2B5EF4-FFF2-40B4-BE49-F238E27FC236}">
                <a16:creationId xmlns:a16="http://schemas.microsoft.com/office/drawing/2014/main" id="{0D03E056-4293-D687-C646-04AEF50F8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53" y="3233812"/>
            <a:ext cx="3240087" cy="26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통합검색</a:t>
            </a: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19" name="Text Box 38">
            <a:extLst>
              <a:ext uri="{FF2B5EF4-FFF2-40B4-BE49-F238E27FC236}">
                <a16:creationId xmlns:a16="http://schemas.microsoft.com/office/drawing/2014/main" id="{D4A61036-BC48-2B0C-52B7-057DB089D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53" y="3550456"/>
            <a:ext cx="32400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100" dirty="0">
                <a:latin typeface="굴림" panose="020B0600000101010101" pitchFamily="50" charset="-127"/>
                <a:ea typeface="굴림" panose="020B0600000101010101" pitchFamily="50" charset="-127"/>
              </a:rPr>
              <a:t>Select </a:t>
            </a: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박스를 활용한 정보 검색 배너</a:t>
            </a: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20" name="Oval 39">
            <a:extLst>
              <a:ext uri="{FF2B5EF4-FFF2-40B4-BE49-F238E27FC236}">
                <a16:creationId xmlns:a16="http://schemas.microsoft.com/office/drawing/2014/main" id="{351DBE6F-EC09-E276-B8C1-C4642470D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3609020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</a:p>
        </p:txBody>
      </p:sp>
      <p:sp>
        <p:nvSpPr>
          <p:cNvPr id="8221" name="Text Box 38">
            <a:extLst>
              <a:ext uri="{FF2B5EF4-FFF2-40B4-BE49-F238E27FC236}">
                <a16:creationId xmlns:a16="http://schemas.microsoft.com/office/drawing/2014/main" id="{448CF7E8-6EE6-E318-6E3B-3127654B9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7" y="4503254"/>
            <a:ext cx="3917599" cy="60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공지사항</a:t>
            </a:r>
            <a:r>
              <a:rPr lang="en-US" altLang="ko-KR" sz="11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프로그램</a:t>
            </a:r>
            <a:r>
              <a:rPr lang="en-US" altLang="ko-KR" sz="11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사서추천도서 탭 링크 </a:t>
            </a:r>
            <a:endParaRPr lang="en-US" altLang="ko-KR" sz="11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탭 클릭 시 해당 내용 게시물이 보이며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해당 페이지로 이동 가능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22" name="Oval 39">
            <a:extLst>
              <a:ext uri="{FF2B5EF4-FFF2-40B4-BE49-F238E27FC236}">
                <a16:creationId xmlns:a16="http://schemas.microsoft.com/office/drawing/2014/main" id="{DD560561-4492-3BC5-53EF-76095C737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4529597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8223" name="Text Box 38">
            <a:extLst>
              <a:ext uri="{FF2B5EF4-FFF2-40B4-BE49-F238E27FC236}">
                <a16:creationId xmlns:a16="http://schemas.microsoft.com/office/drawing/2014/main" id="{45FF3140-7F5A-2EC7-2D45-DAD98E6D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5326658"/>
            <a:ext cx="3681350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100" dirty="0">
                <a:latin typeface="굴림" panose="020B0600000101010101" pitchFamily="50" charset="-127"/>
                <a:ea typeface="굴림" panose="020B0600000101010101" pitchFamily="50" charset="-127"/>
              </a:rPr>
              <a:t>Footer</a:t>
            </a:r>
          </a:p>
          <a:p>
            <a:pPr eaLnBrk="1" latinLnBrk="1" hangingPunct="1">
              <a:lnSpc>
                <a:spcPct val="150000"/>
              </a:lnSpc>
              <a:spcBef>
                <a:spcPct val="50000"/>
              </a:spcBef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의정부시 도서관의 기본 정보 및 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select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박스를 활용하여 해당 도서관으로 사이트 이동 가능 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224" name="Oval 39">
            <a:extLst>
              <a:ext uri="{FF2B5EF4-FFF2-40B4-BE49-F238E27FC236}">
                <a16:creationId xmlns:a16="http://schemas.microsoft.com/office/drawing/2014/main" id="{670FE802-F2EA-D52C-2A64-39FEE7DA3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65" y="5368454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</a:p>
        </p:txBody>
      </p:sp>
      <p:pic>
        <p:nvPicPr>
          <p:cNvPr id="7" name="그림 6" descr="텍스트, 번호, 폰트, 소프트웨어이(가) 표시된 사진&#10;&#10;자동 생성된 설명">
            <a:extLst>
              <a:ext uri="{FF2B5EF4-FFF2-40B4-BE49-F238E27FC236}">
                <a16:creationId xmlns:a16="http://schemas.microsoft.com/office/drawing/2014/main" id="{F7AE3617-A5DF-3D9E-4F7D-FBC323970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287" y="1208089"/>
            <a:ext cx="1825318" cy="5151958"/>
          </a:xfrm>
          <a:prstGeom prst="rect">
            <a:avLst/>
          </a:prstGeom>
        </p:spPr>
      </p:pic>
      <p:pic>
        <p:nvPicPr>
          <p:cNvPr id="9" name="그림 8" descr="텍스트, 폰트, 웹 페이지, 번호이(가) 표시된 사진&#10;&#10;자동 생성된 설명">
            <a:extLst>
              <a:ext uri="{FF2B5EF4-FFF2-40B4-BE49-F238E27FC236}">
                <a16:creationId xmlns:a16="http://schemas.microsoft.com/office/drawing/2014/main" id="{A883A702-2C7C-F497-7A81-530EC2221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205" y="1208088"/>
            <a:ext cx="1779930" cy="5151958"/>
          </a:xfrm>
          <a:prstGeom prst="rect">
            <a:avLst/>
          </a:prstGeom>
        </p:spPr>
      </p:pic>
      <p:sp>
        <p:nvSpPr>
          <p:cNvPr id="8210" name="Oval 18">
            <a:extLst>
              <a:ext uri="{FF2B5EF4-FFF2-40B4-BE49-F238E27FC236}">
                <a16:creationId xmlns:a16="http://schemas.microsoft.com/office/drawing/2014/main" id="{34E4246E-340E-01F6-0A82-9A0719FE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237" y="1653381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</a:p>
        </p:txBody>
      </p:sp>
      <p:sp>
        <p:nvSpPr>
          <p:cNvPr id="8212" name="Oval 18">
            <a:extLst>
              <a:ext uri="{FF2B5EF4-FFF2-40B4-BE49-F238E27FC236}">
                <a16:creationId xmlns:a16="http://schemas.microsoft.com/office/drawing/2014/main" id="{BD740F59-CCEB-2220-3A2D-A7077115B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436" y="1100138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</a:p>
        </p:txBody>
      </p:sp>
      <p:sp>
        <p:nvSpPr>
          <p:cNvPr id="8214" name="Oval 18">
            <a:extLst>
              <a:ext uri="{FF2B5EF4-FFF2-40B4-BE49-F238E27FC236}">
                <a16:creationId xmlns:a16="http://schemas.microsoft.com/office/drawing/2014/main" id="{A25C17F5-5085-A277-AC8B-A62812931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881" y="1065214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</a:p>
        </p:txBody>
      </p:sp>
      <p:sp>
        <p:nvSpPr>
          <p:cNvPr id="8217" name="Oval 18">
            <a:extLst>
              <a:ext uri="{FF2B5EF4-FFF2-40B4-BE49-F238E27FC236}">
                <a16:creationId xmlns:a16="http://schemas.microsoft.com/office/drawing/2014/main" id="{2D58CCDE-79CE-BC3F-D6D1-3C1FBB1A1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837" y="4191000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6</a:t>
            </a:r>
          </a:p>
        </p:txBody>
      </p:sp>
      <p:sp>
        <p:nvSpPr>
          <p:cNvPr id="8225" name="Oval 18">
            <a:extLst>
              <a:ext uri="{FF2B5EF4-FFF2-40B4-BE49-F238E27FC236}">
                <a16:creationId xmlns:a16="http://schemas.microsoft.com/office/drawing/2014/main" id="{9788C448-D376-2D40-6A9D-616DFF58F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713" y="2940050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5</a:t>
            </a:r>
          </a:p>
        </p:txBody>
      </p:sp>
      <p:sp>
        <p:nvSpPr>
          <p:cNvPr id="8226" name="Oval 18">
            <a:extLst>
              <a:ext uri="{FF2B5EF4-FFF2-40B4-BE49-F238E27FC236}">
                <a16:creationId xmlns:a16="http://schemas.microsoft.com/office/drawing/2014/main" id="{6D15BEA6-B350-1B05-7DF1-C0224AC17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3185" y="3602038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6</a:t>
            </a:r>
          </a:p>
        </p:txBody>
      </p:sp>
      <p:sp>
        <p:nvSpPr>
          <p:cNvPr id="8198" name="Oval 18">
            <a:extLst>
              <a:ext uri="{FF2B5EF4-FFF2-40B4-BE49-F238E27FC236}">
                <a16:creationId xmlns:a16="http://schemas.microsoft.com/office/drawing/2014/main" id="{2EAB494A-B7F3-21B2-6237-9AC95B994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112" y="1138238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E0550F16-E5C5-919E-A189-1FC899C26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3185" y="1173164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6</a:t>
            </a:r>
          </a:p>
        </p:txBody>
      </p:sp>
      <p:sp>
        <p:nvSpPr>
          <p:cNvPr id="11" name="Oval 18">
            <a:extLst>
              <a:ext uri="{FF2B5EF4-FFF2-40B4-BE49-F238E27FC236}">
                <a16:creationId xmlns:a16="http://schemas.microsoft.com/office/drawing/2014/main" id="{10A8BBCE-3BE6-489A-69C0-A6555BDA2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7835" y="5294313"/>
            <a:ext cx="215900" cy="215900"/>
          </a:xfrm>
          <a:prstGeom prst="ellipse">
            <a:avLst/>
          </a:pr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18000" tIns="18000" rIns="18000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1100" dirty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0F1DFD16-544C-83CC-B34A-B1158ED44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54" y="1124744"/>
            <a:ext cx="1963274" cy="5226236"/>
          </a:xfrm>
          <a:prstGeom prst="rect">
            <a:avLst/>
          </a:prstGeom>
        </p:spPr>
      </p:pic>
      <p:sp>
        <p:nvSpPr>
          <p:cNvPr id="10244" name="Rectangle 7">
            <a:extLst>
              <a:ext uri="{FF2B5EF4-FFF2-40B4-BE49-F238E27FC236}">
                <a16:creationId xmlns:a16="http://schemas.microsoft.com/office/drawing/2014/main" id="{18B5AB17-6D83-6E72-9B80-7C7991AA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57350"/>
            <a:ext cx="4057650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 메인 페이지</a:t>
            </a:r>
          </a:p>
        </p:txBody>
      </p:sp>
      <p:sp>
        <p:nvSpPr>
          <p:cNvPr id="10245" name="Rectangle 9">
            <a:extLst>
              <a:ext uri="{FF2B5EF4-FFF2-40B4-BE49-F238E27FC236}">
                <a16:creationId xmlns:a16="http://schemas.microsoft.com/office/drawing/2014/main" id="{9EF80426-5F05-CA1E-78AB-902A1B35E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1412776"/>
            <a:ext cx="1567917" cy="309562"/>
          </a:xfrm>
          <a:prstGeom prst="rect">
            <a:avLst/>
          </a:prstGeom>
          <a:solidFill>
            <a:srgbClr val="99CCFF">
              <a:alpha val="50195"/>
            </a:srgbClr>
          </a:solidFill>
          <a:ln w="19050">
            <a:solidFill>
              <a:schemeClr val="accent2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0246" name="Line 12">
            <a:extLst>
              <a:ext uri="{FF2B5EF4-FFF2-40B4-BE49-F238E27FC236}">
                <a16:creationId xmlns:a16="http://schemas.microsoft.com/office/drawing/2014/main" id="{BDDE37D5-8951-0E9E-E993-231D46E544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8024" y="1412776"/>
            <a:ext cx="0" cy="311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7" name="Text Box 13">
            <a:extLst>
              <a:ext uri="{FF2B5EF4-FFF2-40B4-BE49-F238E27FC236}">
                <a16:creationId xmlns:a16="http://schemas.microsoft.com/office/drawing/2014/main" id="{5191C225-98C8-E915-A494-3CA67591E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956" y="1472208"/>
            <a:ext cx="6842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dirty="0"/>
              <a:t>60px</a:t>
            </a:r>
          </a:p>
        </p:txBody>
      </p:sp>
      <p:sp>
        <p:nvSpPr>
          <p:cNvPr id="10248" name="Rectangle 16">
            <a:extLst>
              <a:ext uri="{FF2B5EF4-FFF2-40B4-BE49-F238E27FC236}">
                <a16:creationId xmlns:a16="http://schemas.microsoft.com/office/drawing/2014/main" id="{A258ABA1-384C-DCAB-BB38-5AB44A94A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163" y="1731764"/>
            <a:ext cx="1552041" cy="3360934"/>
          </a:xfrm>
          <a:prstGeom prst="rect">
            <a:avLst/>
          </a:prstGeom>
          <a:solidFill>
            <a:srgbClr val="CC99FF">
              <a:alpha val="50195"/>
            </a:srgbClr>
          </a:solidFill>
          <a:ln w="19050">
            <a:solidFill>
              <a:schemeClr val="accent2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0249" name="Rectangle 27">
            <a:extLst>
              <a:ext uri="{FF2B5EF4-FFF2-40B4-BE49-F238E27FC236}">
                <a16:creationId xmlns:a16="http://schemas.microsoft.com/office/drawing/2014/main" id="{C3E496F5-791E-397D-0FAB-B22440DAC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988" y="5092698"/>
            <a:ext cx="1552041" cy="1015999"/>
          </a:xfrm>
          <a:prstGeom prst="rect">
            <a:avLst/>
          </a:prstGeom>
          <a:solidFill>
            <a:srgbClr val="99CCFF">
              <a:alpha val="50195"/>
            </a:srgbClr>
          </a:solidFill>
          <a:ln w="19050">
            <a:solidFill>
              <a:schemeClr val="accent2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0250" name="Line 30">
            <a:extLst>
              <a:ext uri="{FF2B5EF4-FFF2-40B4-BE49-F238E27FC236}">
                <a16:creationId xmlns:a16="http://schemas.microsoft.com/office/drawing/2014/main" id="{F1D8026D-206F-6826-A359-946A8A0D56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6195" y="1296022"/>
            <a:ext cx="6801" cy="4871414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51" name="Text Box 33">
            <a:extLst>
              <a:ext uri="{FF2B5EF4-FFF2-40B4-BE49-F238E27FC236}">
                <a16:creationId xmlns:a16="http://schemas.microsoft.com/office/drawing/2014/main" id="{401D1910-0205-0D58-D9E7-3D0677F05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1217948"/>
            <a:ext cx="8636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dirty="0"/>
              <a:t>400px</a:t>
            </a:r>
          </a:p>
        </p:txBody>
      </p:sp>
      <p:sp>
        <p:nvSpPr>
          <p:cNvPr id="10253" name="Text Box 36">
            <a:extLst>
              <a:ext uri="{FF2B5EF4-FFF2-40B4-BE49-F238E27FC236}">
                <a16:creationId xmlns:a16="http://schemas.microsoft.com/office/drawing/2014/main" id="{B8F16E79-1A40-BB2C-550B-B00F1D83C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211" y="1298105"/>
            <a:ext cx="6842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dirty="0"/>
              <a:t>20px</a:t>
            </a:r>
          </a:p>
        </p:txBody>
      </p:sp>
      <p:sp>
        <p:nvSpPr>
          <p:cNvPr id="10254" name="Line 37">
            <a:extLst>
              <a:ext uri="{FF2B5EF4-FFF2-40B4-BE49-F238E27FC236}">
                <a16:creationId xmlns:a16="http://schemas.microsoft.com/office/drawing/2014/main" id="{B8DDCE6D-ABD8-66F6-F7A0-74CAF9CAE2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6196" y="1343676"/>
            <a:ext cx="192736" cy="820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55" name="Line 38">
            <a:extLst>
              <a:ext uri="{FF2B5EF4-FFF2-40B4-BE49-F238E27FC236}">
                <a16:creationId xmlns:a16="http://schemas.microsoft.com/office/drawing/2014/main" id="{6C7A31DB-3132-38C3-C713-51D444465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2988" y="1232756"/>
            <a:ext cx="1552041" cy="1905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56" name="Text Box 43">
            <a:extLst>
              <a:ext uri="{FF2B5EF4-FFF2-40B4-BE49-F238E27FC236}">
                <a16:creationId xmlns:a16="http://schemas.microsoft.com/office/drawing/2014/main" id="{1FB52F17-6F38-5E36-2317-15DDF9EA0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2467" y="1022115"/>
            <a:ext cx="1452562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900" dirty="0"/>
              <a:t>가로 </a:t>
            </a:r>
            <a:r>
              <a:rPr lang="en-US" altLang="ko-KR" sz="900" dirty="0"/>
              <a:t>400px / 100%</a:t>
            </a:r>
          </a:p>
        </p:txBody>
      </p:sp>
      <p:sp>
        <p:nvSpPr>
          <p:cNvPr id="10259" name="Rectangle 7">
            <a:extLst>
              <a:ext uri="{FF2B5EF4-FFF2-40B4-BE49-F238E27FC236}">
                <a16:creationId xmlns:a16="http://schemas.microsoft.com/office/drawing/2014/main" id="{11DB6546-51D8-F1CF-4F9D-31112C278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728" y="1426269"/>
            <a:ext cx="8286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dirty="0"/>
              <a:t>Header</a:t>
            </a:r>
          </a:p>
        </p:txBody>
      </p:sp>
      <p:sp>
        <p:nvSpPr>
          <p:cNvPr id="10260" name="Rectangle 7">
            <a:extLst>
              <a:ext uri="{FF2B5EF4-FFF2-40B4-BE49-F238E27FC236}">
                <a16:creationId xmlns:a16="http://schemas.microsoft.com/office/drawing/2014/main" id="{C9FF27DD-C794-8CBD-62CE-54AEB5DFC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308" y="3228081"/>
            <a:ext cx="8286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dirty="0"/>
              <a:t>Contents</a:t>
            </a:r>
          </a:p>
        </p:txBody>
      </p:sp>
      <p:sp>
        <p:nvSpPr>
          <p:cNvPr id="10262" name="Rectangle 7">
            <a:extLst>
              <a:ext uri="{FF2B5EF4-FFF2-40B4-BE49-F238E27FC236}">
                <a16:creationId xmlns:a16="http://schemas.microsoft.com/office/drawing/2014/main" id="{AEF38EBA-5255-EB8C-8BB9-0A3F4B484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030" y="5502338"/>
            <a:ext cx="612775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dirty="0"/>
              <a:t>Footer</a:t>
            </a:r>
          </a:p>
        </p:txBody>
      </p:sp>
      <p:sp>
        <p:nvSpPr>
          <p:cNvPr id="10263" name="Line 30">
            <a:extLst>
              <a:ext uri="{FF2B5EF4-FFF2-40B4-BE49-F238E27FC236}">
                <a16:creationId xmlns:a16="http://schemas.microsoft.com/office/drawing/2014/main" id="{4DF21D18-8B56-5E81-93F5-E480EFDD44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8228" y="1298105"/>
            <a:ext cx="6801" cy="4810589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66" name="Text Box 26">
            <a:extLst>
              <a:ext uri="{FF2B5EF4-FFF2-40B4-BE49-F238E27FC236}">
                <a16:creationId xmlns:a16="http://schemas.microsoft.com/office/drawing/2014/main" id="{80F5E897-B416-AE22-33E9-DB4DD5C73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2958" y="5469643"/>
            <a:ext cx="7032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04800" indent="-3048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dirty="0"/>
              <a:t>228px</a:t>
            </a:r>
          </a:p>
        </p:txBody>
      </p:sp>
      <p:sp>
        <p:nvSpPr>
          <p:cNvPr id="10270" name="Line 12">
            <a:extLst>
              <a:ext uri="{FF2B5EF4-FFF2-40B4-BE49-F238E27FC236}">
                <a16:creationId xmlns:a16="http://schemas.microsoft.com/office/drawing/2014/main" id="{C2AFC602-2952-2060-97EE-6477DFFD86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5983" y="5094287"/>
            <a:ext cx="0" cy="99900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71" name="Line 12">
            <a:extLst>
              <a:ext uri="{FF2B5EF4-FFF2-40B4-BE49-F238E27FC236}">
                <a16:creationId xmlns:a16="http://schemas.microsoft.com/office/drawing/2014/main" id="{86081723-0DFE-ACD7-E8A1-F31307BE9A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5983" y="1747837"/>
            <a:ext cx="0" cy="334486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72" name="Text Box 4">
            <a:extLst>
              <a:ext uri="{FF2B5EF4-FFF2-40B4-BE49-F238E27FC236}">
                <a16:creationId xmlns:a16="http://schemas.microsoft.com/office/drawing/2014/main" id="{DDEB7641-5860-DD35-CFED-9DCD197F7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930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>
                <a:latin typeface="굴림" panose="020B0600000101010101" pitchFamily="50" charset="-127"/>
                <a:ea typeface="굴림" panose="020B0600000101010101" pitchFamily="50" charset="-127"/>
              </a:rPr>
              <a:t>1. UI </a:t>
            </a:r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가이드 </a:t>
            </a:r>
            <a:endParaRPr lang="en-US" altLang="ko-KR" sz="1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73" name="Text Box 5">
            <a:extLst>
              <a:ext uri="{FF2B5EF4-FFF2-40B4-BE49-F238E27FC236}">
                <a16:creationId xmlns:a16="http://schemas.microsoft.com/office/drawing/2014/main" id="{FBBEDEA7-5FD7-E2D0-BC6C-BA74ACCE9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8088"/>
            <a:ext cx="1881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1"/>
            <a:r>
              <a:rPr lang="en-US" altLang="ko-KR" sz="1400" b="0">
                <a:latin typeface="굴림" panose="020B0600000101010101" pitchFamily="50" charset="-127"/>
                <a:ea typeface="굴림" panose="020B0600000101010101" pitchFamily="50" charset="-127"/>
              </a:rPr>
              <a:t>1.2 UI</a:t>
            </a:r>
            <a:r>
              <a:rPr lang="ko-KR" altLang="en-US" sz="1400" b="0">
                <a:latin typeface="굴림" panose="020B0600000101010101" pitchFamily="50" charset="-127"/>
                <a:ea typeface="굴림" panose="020B0600000101010101" pitchFamily="50" charset="-127"/>
              </a:rPr>
              <a:t> 그리드 시스템</a:t>
            </a:r>
          </a:p>
        </p:txBody>
      </p:sp>
      <p:sp>
        <p:nvSpPr>
          <p:cNvPr id="10274" name="Text Box 34">
            <a:extLst>
              <a:ext uri="{FF2B5EF4-FFF2-40B4-BE49-F238E27FC236}">
                <a16:creationId xmlns:a16="http://schemas.microsoft.com/office/drawing/2014/main" id="{F88314A8-D995-553A-6229-2B96E7328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7007" y="3172574"/>
            <a:ext cx="654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dirty="0"/>
              <a:t>1971px</a:t>
            </a:r>
          </a:p>
        </p:txBody>
      </p:sp>
      <p:sp>
        <p:nvSpPr>
          <p:cNvPr id="10275" name="Text Box 36">
            <a:extLst>
              <a:ext uri="{FF2B5EF4-FFF2-40B4-BE49-F238E27FC236}">
                <a16:creationId xmlns:a16="http://schemas.microsoft.com/office/drawing/2014/main" id="{51D1DF51-299D-9DF0-64A3-5EC0AD1C7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956" y="1232756"/>
            <a:ext cx="6842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dirty="0"/>
              <a:t>20px</a:t>
            </a:r>
          </a:p>
        </p:txBody>
      </p:sp>
      <p:sp>
        <p:nvSpPr>
          <p:cNvPr id="10276" name="Line 37">
            <a:extLst>
              <a:ext uri="{FF2B5EF4-FFF2-40B4-BE49-F238E27FC236}">
                <a16:creationId xmlns:a16="http://schemas.microsoft.com/office/drawing/2014/main" id="{109D541E-4652-B07A-B29D-8A7FA8207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5983" y="1340768"/>
            <a:ext cx="206057" cy="695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Line 15">
            <a:extLst>
              <a:ext uri="{FF2B5EF4-FFF2-40B4-BE49-F238E27FC236}">
                <a16:creationId xmlns:a16="http://schemas.microsoft.com/office/drawing/2014/main" id="{D5BA336D-0BD3-3F9F-FD26-DADC860B0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4538" y="6093296"/>
            <a:ext cx="4802187" cy="15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5">
            <a:extLst>
              <a:ext uri="{FF2B5EF4-FFF2-40B4-BE49-F238E27FC236}">
                <a16:creationId xmlns:a16="http://schemas.microsoft.com/office/drawing/2014/main" id="{441C5F30-0386-7DC8-BF4E-0B6FA6CAA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201" y="5085184"/>
            <a:ext cx="4802187" cy="21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Line 15">
            <a:extLst>
              <a:ext uri="{FF2B5EF4-FFF2-40B4-BE49-F238E27FC236}">
                <a16:creationId xmlns:a16="http://schemas.microsoft.com/office/drawing/2014/main" id="{350104DE-FED5-EE88-CA9F-A8A65B510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201" y="1734699"/>
            <a:ext cx="4802187" cy="21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그래픽, 로고이(가) 표시된 사진">
            <a:extLst>
              <a:ext uri="{FF2B5EF4-FFF2-40B4-BE49-F238E27FC236}">
                <a16:creationId xmlns:a16="http://schemas.microsoft.com/office/drawing/2014/main" id="{4DD8BC51-F31F-EAE4-E94B-524A50EF9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672" y="2950850"/>
            <a:ext cx="5079365" cy="774603"/>
          </a:xfrm>
          <a:prstGeom prst="rect">
            <a:avLst/>
          </a:prstGeom>
        </p:spPr>
      </p:pic>
      <p:sp>
        <p:nvSpPr>
          <p:cNvPr id="11266" name="Text Box 10">
            <a:extLst>
              <a:ext uri="{FF2B5EF4-FFF2-40B4-BE49-F238E27FC236}">
                <a16:creationId xmlns:a16="http://schemas.microsoft.com/office/drawing/2014/main" id="{BABD93B4-748C-D05E-3F31-677C333ED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310" y="3969060"/>
            <a:ext cx="6826250" cy="807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01" tIns="42350" rIns="84701" bIns="42350">
            <a:spAutoFit/>
          </a:bodyPr>
          <a:lstStyle>
            <a:lvl1pPr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1450" indent="-171450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전체메뉴 아이콘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로고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검색 아이콘은 항상 페이지의 최상단에 위치하며 위와 같이 디자인된다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171450" indent="-171450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페이지별 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Header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가 동일하며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전체메뉴 아이콘에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마우스 클릭 시 서브 메뉴가 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Header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아래에서 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lnSpc>
                <a:spcPct val="150000"/>
              </a:lnSpc>
            </a:pP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내려온다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1267" name="Text Box 16">
            <a:extLst>
              <a:ext uri="{FF2B5EF4-FFF2-40B4-BE49-F238E27FC236}">
                <a16:creationId xmlns:a16="http://schemas.microsoft.com/office/drawing/2014/main" id="{EF1E9978-06EA-57B8-89CA-5ACF36773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635" y="4977172"/>
            <a:ext cx="3349625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609600" indent="-609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100" dirty="0">
                <a:latin typeface="굴림" panose="020B0600000101010101" pitchFamily="50" charset="-127"/>
                <a:ea typeface="굴림" panose="020B0600000101010101" pitchFamily="50" charset="-127"/>
              </a:rPr>
              <a:t>Header</a:t>
            </a:r>
            <a:r>
              <a:rPr lang="ko-KR" altLang="en-US" sz="1100" dirty="0">
                <a:latin typeface="굴림" panose="020B0600000101010101" pitchFamily="50" charset="-127"/>
                <a:ea typeface="굴림" panose="020B0600000101010101" pitchFamily="50" charset="-127"/>
              </a:rPr>
              <a:t>영역</a:t>
            </a:r>
          </a:p>
          <a:p>
            <a:pPr eaLnBrk="1" latinLnBrk="1" hangingPunct="1">
              <a:spcBef>
                <a:spcPct val="50000"/>
              </a:spcBef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가로 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: 400px / 100%</a:t>
            </a:r>
          </a:p>
          <a:p>
            <a:pPr eaLnBrk="1" latinLnBrk="1" hangingPunct="1">
              <a:spcBef>
                <a:spcPct val="50000"/>
              </a:spcBef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세로 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: 60px</a:t>
            </a:r>
          </a:p>
        </p:txBody>
      </p:sp>
      <p:sp>
        <p:nvSpPr>
          <p:cNvPr id="11268" name="Rectangle 34">
            <a:extLst>
              <a:ext uri="{FF2B5EF4-FFF2-40B4-BE49-F238E27FC236}">
                <a16:creationId xmlns:a16="http://schemas.microsoft.com/office/drawing/2014/main" id="{0EBA5195-11C0-2F80-A608-305CCAF83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641475"/>
            <a:ext cx="4057650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 Header</a:t>
            </a:r>
          </a:p>
        </p:txBody>
      </p:sp>
      <p:sp>
        <p:nvSpPr>
          <p:cNvPr id="11269" name="Text Box 10">
            <a:extLst>
              <a:ext uri="{FF2B5EF4-FFF2-40B4-BE49-F238E27FC236}">
                <a16:creationId xmlns:a16="http://schemas.microsoft.com/office/drawing/2014/main" id="{F0B0352F-1981-6922-2C13-9283C5A2A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691" y="5139531"/>
            <a:ext cx="1800225" cy="9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01" tIns="42350" rIns="84701" bIns="42350">
            <a:spAutoFit/>
          </a:bodyPr>
          <a:lstStyle>
            <a:lvl1pPr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전체메뉴 아이콘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/>
            <a:endParaRPr lang="ko-KR" altLang="en-US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buFontTx/>
              <a:buChar char="•"/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로고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/>
            <a:endParaRPr lang="ko-KR" altLang="en-US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eaLnBrk="1" latinLnBrk="1" hangingPunct="1">
              <a:buFontTx/>
              <a:buChar char="•"/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통합검색 아이콘</a:t>
            </a:r>
            <a:endParaRPr lang="en-US" altLang="ko-KR" sz="11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70" name="Rectangle 44">
            <a:extLst>
              <a:ext uri="{FF2B5EF4-FFF2-40B4-BE49-F238E27FC236}">
                <a16:creationId xmlns:a16="http://schemas.microsoft.com/office/drawing/2014/main" id="{B1EB5866-3617-5053-E98A-7DCD87F39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691" y="4904581"/>
            <a:ext cx="8302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Contents</a:t>
            </a:r>
          </a:p>
        </p:txBody>
      </p:sp>
      <p:sp>
        <p:nvSpPr>
          <p:cNvPr id="11271" name="Rectangle 56">
            <a:extLst>
              <a:ext uri="{FF2B5EF4-FFF2-40B4-BE49-F238E27FC236}">
                <a16:creationId xmlns:a16="http://schemas.microsoft.com/office/drawing/2014/main" id="{ABDC23DE-C6D0-8D37-C036-BD0B46A68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525" y="1941513"/>
            <a:ext cx="1835150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메인 페이지</a:t>
            </a:r>
            <a:r>
              <a:rPr lang="en-US" altLang="ko-KR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1272" name="Text Box 4">
            <a:extLst>
              <a:ext uri="{FF2B5EF4-FFF2-40B4-BE49-F238E27FC236}">
                <a16:creationId xmlns:a16="http://schemas.microsoft.com/office/drawing/2014/main" id="{DED2C914-1968-3B52-26B4-08E0474A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930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>
                <a:latin typeface="굴림" panose="020B0600000101010101" pitchFamily="50" charset="-127"/>
                <a:ea typeface="굴림" panose="020B0600000101010101" pitchFamily="50" charset="-127"/>
              </a:rPr>
              <a:t>1. UI </a:t>
            </a:r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가이드 </a:t>
            </a:r>
            <a:endParaRPr lang="en-US" altLang="ko-KR" sz="1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273" name="Text Box 5">
            <a:extLst>
              <a:ext uri="{FF2B5EF4-FFF2-40B4-BE49-F238E27FC236}">
                <a16:creationId xmlns:a16="http://schemas.microsoft.com/office/drawing/2014/main" id="{6BFF5925-771E-4A68-98F8-927AB8578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8088"/>
            <a:ext cx="2549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1"/>
            <a:r>
              <a:rPr lang="en-US" altLang="ko-KR" sz="1400" b="0">
                <a:latin typeface="굴림" panose="020B0600000101010101" pitchFamily="50" charset="-127"/>
                <a:ea typeface="굴림" panose="020B0600000101010101" pitchFamily="50" charset="-127"/>
              </a:rPr>
              <a:t>1.3 Header &amp; Title &amp; Footer</a:t>
            </a:r>
            <a:r>
              <a:rPr lang="ko-KR" altLang="en-US" sz="1400" b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1275" name="Line 12">
            <a:extLst>
              <a:ext uri="{FF2B5EF4-FFF2-40B4-BE49-F238E27FC236}">
                <a16:creationId xmlns:a16="http://schemas.microsoft.com/office/drawing/2014/main" id="{1CD0C1B6-029D-D05A-ACD9-7169E9F8A6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04535" y="3025614"/>
            <a:ext cx="0" cy="5254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76" name="Text Box 13">
            <a:extLst>
              <a:ext uri="{FF2B5EF4-FFF2-40B4-BE49-F238E27FC236}">
                <a16:creationId xmlns:a16="http://schemas.microsoft.com/office/drawing/2014/main" id="{90586B1F-A493-06DD-7D40-50AA216A0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3247" y="3208176"/>
            <a:ext cx="6842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900" dirty="0"/>
              <a:t>60px</a:t>
            </a:r>
          </a:p>
        </p:txBody>
      </p:sp>
      <p:sp>
        <p:nvSpPr>
          <p:cNvPr id="11277" name="Text Box 43">
            <a:extLst>
              <a:ext uri="{FF2B5EF4-FFF2-40B4-BE49-F238E27FC236}">
                <a16:creationId xmlns:a16="http://schemas.microsoft.com/office/drawing/2014/main" id="{C436B791-FB38-0977-8047-828C74BED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113" y="2573325"/>
            <a:ext cx="1452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900" dirty="0"/>
              <a:t>가로 </a:t>
            </a:r>
            <a:r>
              <a:rPr lang="en-US" altLang="ko-KR" sz="900" dirty="0"/>
              <a:t>400px / 100%</a:t>
            </a:r>
          </a:p>
        </p:txBody>
      </p:sp>
      <p:sp>
        <p:nvSpPr>
          <p:cNvPr id="11278" name="Line 52">
            <a:extLst>
              <a:ext uri="{FF2B5EF4-FFF2-40B4-BE49-F238E27FC236}">
                <a16:creationId xmlns:a16="http://schemas.microsoft.com/office/drawing/2014/main" id="{93733653-00C0-5F5A-8C95-FB68905F84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74292" y="2754151"/>
            <a:ext cx="0" cy="100806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79" name="Line 61">
            <a:extLst>
              <a:ext uri="{FF2B5EF4-FFF2-40B4-BE49-F238E27FC236}">
                <a16:creationId xmlns:a16="http://schemas.microsoft.com/office/drawing/2014/main" id="{01A00E34-223B-175A-9339-274BC31CD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4292" y="2803512"/>
            <a:ext cx="5097744" cy="302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baseline="-25000" dirty="0"/>
          </a:p>
        </p:txBody>
      </p:sp>
      <p:sp>
        <p:nvSpPr>
          <p:cNvPr id="11280" name="Line 52">
            <a:extLst>
              <a:ext uri="{FF2B5EF4-FFF2-40B4-BE49-F238E27FC236}">
                <a16:creationId xmlns:a16="http://schemas.microsoft.com/office/drawing/2014/main" id="{F081E73E-5B41-C1CE-964A-7B34B082A1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86860" y="2805782"/>
            <a:ext cx="0" cy="9556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81" name="Line 52">
            <a:extLst>
              <a:ext uri="{FF2B5EF4-FFF2-40B4-BE49-F238E27FC236}">
                <a16:creationId xmlns:a16="http://schemas.microsoft.com/office/drawing/2014/main" id="{693EBFC1-6524-6BCE-0F26-0281B4693BE8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4324722" y="-721059"/>
            <a:ext cx="0" cy="73088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82" name="Line 52">
            <a:extLst>
              <a:ext uri="{FF2B5EF4-FFF2-40B4-BE49-F238E27FC236}">
                <a16:creationId xmlns:a16="http://schemas.microsoft.com/office/drawing/2014/main" id="{E8BAE7E5-FC9A-3089-3520-6B122214BE9C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4265985" y="71027"/>
            <a:ext cx="0" cy="73088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22CED0B3-94DC-EEF5-BB88-1E5B36779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04" y="2709464"/>
            <a:ext cx="3583798" cy="2302590"/>
          </a:xfrm>
          <a:prstGeom prst="rect">
            <a:avLst/>
          </a:prstGeom>
        </p:spPr>
      </p:pic>
      <p:sp>
        <p:nvSpPr>
          <p:cNvPr id="12290" name="Rectangle 29">
            <a:extLst>
              <a:ext uri="{FF2B5EF4-FFF2-40B4-BE49-F238E27FC236}">
                <a16:creationId xmlns:a16="http://schemas.microsoft.com/office/drawing/2014/main" id="{098E9A0C-0B9D-4A31-FB6D-FE8FC3409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644650"/>
            <a:ext cx="4057650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 Footer</a:t>
            </a:r>
          </a:p>
        </p:txBody>
      </p:sp>
      <p:sp>
        <p:nvSpPr>
          <p:cNvPr id="12291" name="Line 52">
            <a:extLst>
              <a:ext uri="{FF2B5EF4-FFF2-40B4-BE49-F238E27FC236}">
                <a16:creationId xmlns:a16="http://schemas.microsoft.com/office/drawing/2014/main" id="{C6D66A80-2192-F83E-35F3-8F8806F1F9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4008" y="2487527"/>
            <a:ext cx="8775" cy="2633661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Text Box 54">
            <a:extLst>
              <a:ext uri="{FF2B5EF4-FFF2-40B4-BE49-F238E27FC236}">
                <a16:creationId xmlns:a16="http://schemas.microsoft.com/office/drawing/2014/main" id="{FFDB7661-BE42-ED72-AA29-99E80062E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990" y="5293592"/>
            <a:ext cx="1832818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609600" indent="-609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100" dirty="0"/>
              <a:t>Footer</a:t>
            </a:r>
            <a:r>
              <a:rPr lang="ko-KR" altLang="en-US" sz="1100" dirty="0"/>
              <a:t>영역</a:t>
            </a:r>
          </a:p>
          <a:p>
            <a:pPr eaLnBrk="1" latinLnBrk="1" hangingPunct="1">
              <a:spcBef>
                <a:spcPct val="50000"/>
              </a:spcBef>
            </a:pPr>
            <a:r>
              <a:rPr lang="en-US" altLang="ko-KR" sz="1100" b="0" dirty="0"/>
              <a:t>  </a:t>
            </a:r>
            <a:r>
              <a:rPr lang="ko-KR" altLang="en-US" sz="1100" b="0" dirty="0"/>
              <a:t>가로 </a:t>
            </a:r>
            <a:r>
              <a:rPr lang="en-US" altLang="ko-KR" sz="1100" b="0" dirty="0"/>
              <a:t>: 400px / 100%</a:t>
            </a:r>
          </a:p>
          <a:p>
            <a:pPr eaLnBrk="1" latinLnBrk="1" hangingPunct="1">
              <a:spcBef>
                <a:spcPct val="50000"/>
              </a:spcBef>
            </a:pPr>
            <a:r>
              <a:rPr lang="ko-KR" altLang="en-US" sz="1100" b="0" dirty="0"/>
              <a:t>  세로 </a:t>
            </a:r>
            <a:r>
              <a:rPr lang="en-US" altLang="ko-KR" sz="1100" b="0" dirty="0"/>
              <a:t>: 228px</a:t>
            </a:r>
          </a:p>
        </p:txBody>
      </p:sp>
      <p:sp>
        <p:nvSpPr>
          <p:cNvPr id="12293" name="Rectangle 56">
            <a:extLst>
              <a:ext uri="{FF2B5EF4-FFF2-40B4-BE49-F238E27FC236}">
                <a16:creationId xmlns:a16="http://schemas.microsoft.com/office/drawing/2014/main" id="{80E3FA3F-93A4-34EE-5E6E-DDA0B9274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978" y="1952182"/>
            <a:ext cx="1835150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메인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서브 페이지 공통</a:t>
            </a:r>
          </a:p>
        </p:txBody>
      </p:sp>
      <p:sp>
        <p:nvSpPr>
          <p:cNvPr id="12294" name="Line 61">
            <a:extLst>
              <a:ext uri="{FF2B5EF4-FFF2-40B4-BE49-F238E27FC236}">
                <a16:creationId xmlns:a16="http://schemas.microsoft.com/office/drawing/2014/main" id="{F5A2F38D-7D7F-91AC-6BEC-C8008F5E9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6192" y="2606786"/>
            <a:ext cx="3572574" cy="1584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5" name="Text Box 10">
            <a:extLst>
              <a:ext uri="{FF2B5EF4-FFF2-40B4-BE49-F238E27FC236}">
                <a16:creationId xmlns:a16="http://schemas.microsoft.com/office/drawing/2014/main" id="{2BC33795-9B27-E062-E37F-8A2E93283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352" y="3937071"/>
            <a:ext cx="2700751" cy="106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01" tIns="42350" rIns="84701" bIns="42350">
            <a:spAutoFit/>
          </a:bodyPr>
          <a:lstStyle>
            <a:lvl1pPr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buFontTx/>
              <a:buChar char="•"/>
            </a:pPr>
            <a:r>
              <a:rPr lang="ko-KR" altLang="en-US" sz="1100" b="0" dirty="0"/>
              <a:t> 브랜드 기본 정보</a:t>
            </a:r>
          </a:p>
          <a:p>
            <a:pPr eaLnBrk="1" latinLnBrk="1" hangingPunct="1">
              <a:lnSpc>
                <a:spcPct val="150000"/>
              </a:lnSpc>
              <a:buFontTx/>
              <a:buChar char="•"/>
            </a:pPr>
            <a:r>
              <a:rPr lang="en-US" altLang="ko-KR" sz="1100" b="0" dirty="0"/>
              <a:t> copyright</a:t>
            </a:r>
          </a:p>
          <a:p>
            <a:pPr eaLnBrk="1" latinLnBrk="1" hangingPunct="1">
              <a:lnSpc>
                <a:spcPct val="150000"/>
              </a:lnSpc>
              <a:buFontTx/>
              <a:buChar char="•"/>
            </a:pPr>
            <a:r>
              <a:rPr lang="ko-KR" altLang="en-US" sz="1100" b="0" dirty="0"/>
              <a:t> 이용약관</a:t>
            </a:r>
            <a:r>
              <a:rPr lang="en-US" altLang="ko-KR" sz="1100" b="0" dirty="0"/>
              <a:t>, </a:t>
            </a:r>
            <a:r>
              <a:rPr lang="ko-KR" altLang="en-US" sz="1100" b="0" dirty="0"/>
              <a:t>법적 정보</a:t>
            </a:r>
            <a:endParaRPr lang="en-US" altLang="ko-KR" sz="1100" b="0" dirty="0"/>
          </a:p>
          <a:p>
            <a:pPr eaLnBrk="1" latinLnBrk="1" hangingPunct="1">
              <a:lnSpc>
                <a:spcPct val="150000"/>
              </a:lnSpc>
              <a:buFontTx/>
              <a:buChar char="•"/>
            </a:pPr>
            <a:r>
              <a:rPr lang="ko-KR" altLang="en-US" sz="1100" b="0" dirty="0"/>
              <a:t> 관련도서관 사이트 링크</a:t>
            </a:r>
          </a:p>
        </p:txBody>
      </p:sp>
      <p:sp>
        <p:nvSpPr>
          <p:cNvPr id="12296" name="Line 52">
            <a:extLst>
              <a:ext uri="{FF2B5EF4-FFF2-40B4-BE49-F238E27FC236}">
                <a16:creationId xmlns:a16="http://schemas.microsoft.com/office/drawing/2014/main" id="{F532B247-C207-5806-E096-AC874E9182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25978" y="2454668"/>
            <a:ext cx="10496" cy="2735193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7" name="Line 52">
            <a:extLst>
              <a:ext uri="{FF2B5EF4-FFF2-40B4-BE49-F238E27FC236}">
                <a16:creationId xmlns:a16="http://schemas.microsoft.com/office/drawing/2014/main" id="{51612E83-F442-6113-A52C-D6B952BEF1BC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425372" y="701522"/>
            <a:ext cx="1666" cy="3996441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8" name="Text Box 60">
            <a:extLst>
              <a:ext uri="{FF2B5EF4-FFF2-40B4-BE49-F238E27FC236}">
                <a16:creationId xmlns:a16="http://schemas.microsoft.com/office/drawing/2014/main" id="{8361970E-FB01-5020-2CB5-58565E369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8087" y="3264399"/>
            <a:ext cx="3778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000" b="0" dirty="0"/>
              <a:t>228px</a:t>
            </a:r>
          </a:p>
        </p:txBody>
      </p:sp>
      <p:sp>
        <p:nvSpPr>
          <p:cNvPr id="12299" name="Line 12">
            <a:extLst>
              <a:ext uri="{FF2B5EF4-FFF2-40B4-BE49-F238E27FC236}">
                <a16:creationId xmlns:a16="http://schemas.microsoft.com/office/drawing/2014/main" id="{0604C9DB-8B9C-F96B-A176-342991B896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16415" y="2709464"/>
            <a:ext cx="0" cy="230092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0" name="Rectangle 42">
            <a:extLst>
              <a:ext uri="{FF2B5EF4-FFF2-40B4-BE49-F238E27FC236}">
                <a16:creationId xmlns:a16="http://schemas.microsoft.com/office/drawing/2014/main" id="{084BFE40-F7BF-77C8-A78C-327788E51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3645024"/>
            <a:ext cx="1004618" cy="302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609600" indent="-609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dirty="0"/>
              <a:t>Contents</a:t>
            </a:r>
          </a:p>
        </p:txBody>
      </p:sp>
      <p:sp>
        <p:nvSpPr>
          <p:cNvPr id="12301" name="Line 52">
            <a:extLst>
              <a:ext uri="{FF2B5EF4-FFF2-40B4-BE49-F238E27FC236}">
                <a16:creationId xmlns:a16="http://schemas.microsoft.com/office/drawing/2014/main" id="{E5E560E1-12B9-F75C-D5EC-BE268F08E71D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462209" y="3040948"/>
            <a:ext cx="0" cy="3924436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2" name="Text Box 4">
            <a:extLst>
              <a:ext uri="{FF2B5EF4-FFF2-40B4-BE49-F238E27FC236}">
                <a16:creationId xmlns:a16="http://schemas.microsoft.com/office/drawing/2014/main" id="{E35E67E1-163A-B209-DB24-A63B432D8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930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>
                <a:latin typeface="굴림" panose="020B0600000101010101" pitchFamily="50" charset="-127"/>
                <a:ea typeface="굴림" panose="020B0600000101010101" pitchFamily="50" charset="-127"/>
              </a:rPr>
              <a:t>1. UI </a:t>
            </a:r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가이드 </a:t>
            </a:r>
            <a:endParaRPr lang="en-US" altLang="ko-KR" sz="1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303" name="Text Box 5">
            <a:extLst>
              <a:ext uri="{FF2B5EF4-FFF2-40B4-BE49-F238E27FC236}">
                <a16:creationId xmlns:a16="http://schemas.microsoft.com/office/drawing/2014/main" id="{6F94B333-CE5E-93DE-B4DC-216252147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8088"/>
            <a:ext cx="2549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1"/>
            <a:r>
              <a:rPr lang="en-US" altLang="ko-KR" sz="1400" b="0">
                <a:latin typeface="굴림" panose="020B0600000101010101" pitchFamily="50" charset="-127"/>
                <a:ea typeface="굴림" panose="020B0600000101010101" pitchFamily="50" charset="-127"/>
              </a:rPr>
              <a:t>1.3 Header &amp; Title &amp; Footer</a:t>
            </a:r>
            <a:r>
              <a:rPr lang="ko-KR" altLang="en-US" sz="1400" b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2305" name="Text Box 10">
            <a:extLst>
              <a:ext uri="{FF2B5EF4-FFF2-40B4-BE49-F238E27FC236}">
                <a16:creationId xmlns:a16="http://schemas.microsoft.com/office/drawing/2014/main" id="{594F886E-4BFD-7712-31B7-E2BE7E135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599" y="2315466"/>
            <a:ext cx="3444370" cy="1067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4701" tIns="42350" rIns="84701" bIns="42350">
            <a:spAutoFit/>
          </a:bodyPr>
          <a:lstStyle>
            <a:lvl1pPr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171450" indent="-171450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사이트의 기본 정보와 보조 링크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법적 정보들을 담고 있다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 marL="171450" indent="-171450" eaLnBrk="1" latin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 배경색을 어두운 톤으로 설정하여 콘텐츠 영역과 명확히 구분함으로써 가독성을 향상시켰다</a:t>
            </a:r>
            <a:r>
              <a:rPr lang="en-US" altLang="ko-KR" sz="1100" b="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2306" name="Text Box 43">
            <a:extLst>
              <a:ext uri="{FF2B5EF4-FFF2-40B4-BE49-F238E27FC236}">
                <a16:creationId xmlns:a16="http://schemas.microsoft.com/office/drawing/2014/main" id="{73EA0F07-82CD-12C0-885A-D0EC89B31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347" y="2276872"/>
            <a:ext cx="1452563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900" dirty="0"/>
              <a:t>가로 </a:t>
            </a:r>
            <a:r>
              <a:rPr lang="en-US" altLang="ko-KR" sz="900" dirty="0"/>
              <a:t>400px /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, 화이트이(가) 표시된 사진&#10;&#10;자동 생성된 설명">
            <a:extLst>
              <a:ext uri="{FF2B5EF4-FFF2-40B4-BE49-F238E27FC236}">
                <a16:creationId xmlns:a16="http://schemas.microsoft.com/office/drawing/2014/main" id="{7025713D-2684-13F5-EDC8-62DC48E59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610" y="3867008"/>
            <a:ext cx="2085320" cy="742948"/>
          </a:xfrm>
          <a:prstGeom prst="rect">
            <a:avLst/>
          </a:prstGeom>
        </p:spPr>
      </p:pic>
      <p:pic>
        <p:nvPicPr>
          <p:cNvPr id="7" name="그림 6" descr="텍스트, 폰트, 화이트, 로고이(가) 표시된 사진&#10;&#10;자동 생성된 설명">
            <a:extLst>
              <a:ext uri="{FF2B5EF4-FFF2-40B4-BE49-F238E27FC236}">
                <a16:creationId xmlns:a16="http://schemas.microsoft.com/office/drawing/2014/main" id="{30D150F4-7BB2-7E64-0E89-368A6EE80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0" y="1772816"/>
            <a:ext cx="1397000" cy="660400"/>
          </a:xfrm>
          <a:prstGeom prst="rect">
            <a:avLst/>
          </a:prstGeom>
        </p:spPr>
      </p:pic>
      <p:pic>
        <p:nvPicPr>
          <p:cNvPr id="5" name="그림 4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A9177535-927A-F974-FDC7-06251E62A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137" y="1354964"/>
            <a:ext cx="1994567" cy="4702191"/>
          </a:xfrm>
          <a:prstGeom prst="rect">
            <a:avLst/>
          </a:prstGeom>
        </p:spPr>
      </p:pic>
      <p:pic>
        <p:nvPicPr>
          <p:cNvPr id="3" name="그림 2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DB588E52-DEE4-C386-3413-5E7616AAFD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354964"/>
            <a:ext cx="1834090" cy="4882348"/>
          </a:xfrm>
          <a:prstGeom prst="rect">
            <a:avLst/>
          </a:prstGeom>
        </p:spPr>
      </p:pic>
      <p:sp>
        <p:nvSpPr>
          <p:cNvPr id="13316" name="Text Box 8">
            <a:extLst>
              <a:ext uri="{FF2B5EF4-FFF2-40B4-BE49-F238E27FC236}">
                <a16:creationId xmlns:a16="http://schemas.microsoft.com/office/drawing/2014/main" id="{53F7BD73-92A3-BD72-B615-1002A4D58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495" y="2505162"/>
            <a:ext cx="18637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01" tIns="42350" rIns="84701" bIns="42350">
            <a:spAutoFit/>
          </a:bodyPr>
          <a:lstStyle>
            <a:lvl1pPr marL="96838" indent="-96838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000" dirty="0"/>
              <a:t>메뉴타이틀</a:t>
            </a:r>
            <a:r>
              <a:rPr lang="en-US" altLang="ko-KR" sz="1000" dirty="0"/>
              <a:t>1</a:t>
            </a:r>
          </a:p>
        </p:txBody>
      </p:sp>
      <p:sp>
        <p:nvSpPr>
          <p:cNvPr id="13317" name="Line 9">
            <a:extLst>
              <a:ext uri="{FF2B5EF4-FFF2-40B4-BE49-F238E27FC236}">
                <a16:creationId xmlns:a16="http://schemas.microsoft.com/office/drawing/2014/main" id="{317CF1CA-FE5F-9D81-01A4-CD17F08C4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489" y="1736812"/>
            <a:ext cx="0" cy="8270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8" name="Line 10">
            <a:extLst>
              <a:ext uri="{FF2B5EF4-FFF2-40B4-BE49-F238E27FC236}">
                <a16:creationId xmlns:a16="http://schemas.microsoft.com/office/drawing/2014/main" id="{98752D6C-EDAE-05EB-18C8-4336562A17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8064" y="1736812"/>
            <a:ext cx="0" cy="7921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9" name="Line 13">
            <a:extLst>
              <a:ext uri="{FF2B5EF4-FFF2-40B4-BE49-F238E27FC236}">
                <a16:creationId xmlns:a16="http://schemas.microsoft.com/office/drawing/2014/main" id="{D4CEEC2F-CF65-D639-4B8E-4BBD700D51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9882" y="3854307"/>
            <a:ext cx="2157314" cy="635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0" name="Line 38">
            <a:extLst>
              <a:ext uri="{FF2B5EF4-FFF2-40B4-BE49-F238E27FC236}">
                <a16:creationId xmlns:a16="http://schemas.microsoft.com/office/drawing/2014/main" id="{ECC69CBA-71F7-26C7-A3F1-1BAB9666F0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564" y="2386100"/>
            <a:ext cx="16192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1" name="Line 39">
            <a:extLst>
              <a:ext uri="{FF2B5EF4-FFF2-40B4-BE49-F238E27FC236}">
                <a16:creationId xmlns:a16="http://schemas.microsoft.com/office/drawing/2014/main" id="{817D1E45-6E9E-787B-2940-400B4C2C16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564" y="1844762"/>
            <a:ext cx="16192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2" name="Line 41">
            <a:extLst>
              <a:ext uri="{FF2B5EF4-FFF2-40B4-BE49-F238E27FC236}">
                <a16:creationId xmlns:a16="http://schemas.microsoft.com/office/drawing/2014/main" id="{F9021435-B9D8-DC39-E5BD-24B7957FB1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09882" y="4616306"/>
            <a:ext cx="2186054" cy="635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3" name="Line 43">
            <a:extLst>
              <a:ext uri="{FF2B5EF4-FFF2-40B4-BE49-F238E27FC236}">
                <a16:creationId xmlns:a16="http://schemas.microsoft.com/office/drawing/2014/main" id="{84B1FA12-C845-5ED4-9CF9-E52504B075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1889" y="3753036"/>
            <a:ext cx="0" cy="101249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4" name="Line 44">
            <a:extLst>
              <a:ext uri="{FF2B5EF4-FFF2-40B4-BE49-F238E27FC236}">
                <a16:creationId xmlns:a16="http://schemas.microsoft.com/office/drawing/2014/main" id="{E79ACCE9-C2A4-0FC5-2AFD-6676413BC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2109" y="3767405"/>
            <a:ext cx="0" cy="92553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25" name="Rectangle 50">
            <a:extLst>
              <a:ext uri="{FF2B5EF4-FFF2-40B4-BE49-F238E27FC236}">
                <a16:creationId xmlns:a16="http://schemas.microsoft.com/office/drawing/2014/main" id="{D6741B71-B88A-768A-41E6-5B73499D4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70" y="2721062"/>
            <a:ext cx="137795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09600" indent="-609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dirty="0"/>
              <a:t>Pretendard</a:t>
            </a:r>
          </a:p>
          <a:p>
            <a:r>
              <a:rPr lang="en-US" altLang="ko-KR" sz="1000" b="0" dirty="0"/>
              <a:t>font-size: 20px;</a:t>
            </a:r>
          </a:p>
          <a:p>
            <a:pPr eaLnBrk="1" latinLnBrk="1" hangingPunct="1"/>
            <a:r>
              <a:rPr lang="en-US" altLang="ko-KR" sz="1000" b="0" dirty="0"/>
              <a:t>color: #000;</a:t>
            </a:r>
          </a:p>
          <a:p>
            <a:pPr eaLnBrk="1" latinLnBrk="1" hangingPunct="1"/>
            <a:r>
              <a:rPr lang="en-US" altLang="ko-KR" sz="1000" b="0" dirty="0"/>
              <a:t>font-weight: bold;</a:t>
            </a:r>
          </a:p>
          <a:p>
            <a:pPr eaLnBrk="1" latinLnBrk="1" hangingPunct="1"/>
            <a:r>
              <a:rPr lang="en-US" altLang="ko-KR" sz="1000" b="0" dirty="0"/>
              <a:t>Line-height:1.5em;</a:t>
            </a:r>
          </a:p>
        </p:txBody>
      </p:sp>
      <p:sp>
        <p:nvSpPr>
          <p:cNvPr id="13327" name="Rectangle 16">
            <a:extLst>
              <a:ext uri="{FF2B5EF4-FFF2-40B4-BE49-F238E27FC236}">
                <a16:creationId xmlns:a16="http://schemas.microsoft.com/office/drawing/2014/main" id="{EE98DBDE-4F96-FB5B-954B-84230D47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876" y="4034293"/>
            <a:ext cx="650875" cy="1936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3328" name="Rectangle 16">
            <a:extLst>
              <a:ext uri="{FF2B5EF4-FFF2-40B4-BE49-F238E27FC236}">
                <a16:creationId xmlns:a16="http://schemas.microsoft.com/office/drawing/2014/main" id="{C7D0D919-E188-A63E-2C20-C25BCF4F0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134" y="2495582"/>
            <a:ext cx="1268903" cy="42218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3329" name="Text Box 8">
            <a:extLst>
              <a:ext uri="{FF2B5EF4-FFF2-40B4-BE49-F238E27FC236}">
                <a16:creationId xmlns:a16="http://schemas.microsoft.com/office/drawing/2014/main" id="{E8000C62-055B-6DB4-6F5D-F84C31835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213" y="4765532"/>
            <a:ext cx="18637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01" tIns="42350" rIns="84701" bIns="42350">
            <a:spAutoFit/>
          </a:bodyPr>
          <a:lstStyle>
            <a:lvl1pPr marL="96838" indent="-96838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47725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ko-KR" altLang="en-US" sz="1000" dirty="0"/>
              <a:t>메뉴타이틀</a:t>
            </a:r>
            <a:r>
              <a:rPr lang="en-US" altLang="ko-KR" sz="1000" dirty="0"/>
              <a:t>2</a:t>
            </a:r>
          </a:p>
        </p:txBody>
      </p:sp>
      <p:sp>
        <p:nvSpPr>
          <p:cNvPr id="13330" name="Rectangle 50">
            <a:extLst>
              <a:ext uri="{FF2B5EF4-FFF2-40B4-BE49-F238E27FC236}">
                <a16:creationId xmlns:a16="http://schemas.microsoft.com/office/drawing/2014/main" id="{56EDBF63-6DBF-E968-C510-6A68EAC8B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499" y="5010007"/>
            <a:ext cx="1572589" cy="104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09600" indent="-609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dirty="0"/>
              <a:t>Pretendard</a:t>
            </a:r>
          </a:p>
          <a:p>
            <a:pPr eaLnBrk="1" latinLnBrk="1" hangingPunct="1"/>
            <a:r>
              <a:rPr lang="en-US" altLang="ko-KR" sz="1000" b="0" dirty="0"/>
              <a:t>font-size: 18px;</a:t>
            </a:r>
          </a:p>
          <a:p>
            <a:pPr eaLnBrk="1" latinLnBrk="1" hangingPunct="1"/>
            <a:r>
              <a:rPr lang="en-US" altLang="ko-KR" sz="1000" b="0" dirty="0"/>
              <a:t>color:  #333;</a:t>
            </a:r>
          </a:p>
          <a:p>
            <a:pPr eaLnBrk="1" latinLnBrk="1" hangingPunct="1"/>
            <a:r>
              <a:rPr lang="en-US" altLang="ko-KR" sz="1000" b="0" dirty="0"/>
              <a:t>         #0b44a9; hover</a:t>
            </a:r>
          </a:p>
          <a:p>
            <a:pPr eaLnBrk="1" latinLnBrk="1" hangingPunct="1"/>
            <a:r>
              <a:rPr lang="en-US" altLang="ko-KR" sz="1000" b="0" dirty="0"/>
              <a:t>font-weight: bold;</a:t>
            </a:r>
          </a:p>
          <a:p>
            <a:pPr eaLnBrk="1" latinLnBrk="1" hangingPunct="1"/>
            <a:r>
              <a:rPr lang="en-US" altLang="ko-KR" sz="1000" b="0" dirty="0"/>
              <a:t>Line-height:1.5em;</a:t>
            </a:r>
          </a:p>
        </p:txBody>
      </p:sp>
      <p:sp>
        <p:nvSpPr>
          <p:cNvPr id="13331" name="Text Box 4">
            <a:extLst>
              <a:ext uri="{FF2B5EF4-FFF2-40B4-BE49-F238E27FC236}">
                <a16:creationId xmlns:a16="http://schemas.microsoft.com/office/drawing/2014/main" id="{9FDE092A-0438-AC1A-41C3-3EE30C790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930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>
                <a:latin typeface="굴림" panose="020B0600000101010101" pitchFamily="50" charset="-127"/>
                <a:ea typeface="굴림" panose="020B0600000101010101" pitchFamily="50" charset="-127"/>
              </a:rPr>
              <a:t>1. UI </a:t>
            </a:r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가이드 </a:t>
            </a:r>
            <a:endParaRPr lang="en-US" altLang="ko-KR" sz="1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332" name="Text Box 5">
            <a:extLst>
              <a:ext uri="{FF2B5EF4-FFF2-40B4-BE49-F238E27FC236}">
                <a16:creationId xmlns:a16="http://schemas.microsoft.com/office/drawing/2014/main" id="{3E89E2D7-A348-9293-516E-D87958979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8088"/>
            <a:ext cx="25495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1"/>
            <a:r>
              <a:rPr lang="en-US" altLang="ko-KR" sz="1400" b="0">
                <a:latin typeface="굴림" panose="020B0600000101010101" pitchFamily="50" charset="-127"/>
                <a:ea typeface="굴림" panose="020B0600000101010101" pitchFamily="50" charset="-127"/>
              </a:rPr>
              <a:t>1.3 Header &amp; Title &amp; Footer</a:t>
            </a:r>
            <a:r>
              <a:rPr lang="ko-KR" altLang="en-US" sz="1400" b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44C599BB-F676-7748-9DBD-ADF9065AF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F6BAA84B-5B90-5D4B-C9F4-B3AFFBBF0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8445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2.1 </a:t>
            </a:r>
            <a:r>
              <a:rPr lang="ko-KR" altLang="en-US" sz="1400" b="0" dirty="0">
                <a:latin typeface="+mj-lt"/>
                <a:ea typeface="굴림" charset="-127"/>
              </a:rPr>
              <a:t>규칙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D339D-C2CB-5D6F-D80B-D9D16BB16D22}"/>
              </a:ext>
            </a:extLst>
          </p:cNvPr>
          <p:cNvSpPr txBox="1"/>
          <p:nvPr/>
        </p:nvSpPr>
        <p:spPr>
          <a:xfrm>
            <a:off x="519113" y="1712913"/>
            <a:ext cx="8069262" cy="4339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algn="just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b="0" dirty="0"/>
              <a:t>네이밍 규칙</a:t>
            </a:r>
            <a:endParaRPr lang="en-US" altLang="ko-KR" b="0" dirty="0"/>
          </a:p>
          <a:p>
            <a:pPr marL="171450" indent="-171450" algn="just" eaLnBrk="1" latinLnBrk="1" hangingPunct="1">
              <a:buFont typeface="Wingdings" panose="05000000000000000000" pitchFamily="2" charset="2"/>
              <a:buChar char="l"/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r>
              <a:rPr lang="ko-KR" altLang="en-US" b="0" dirty="0"/>
              <a:t>    네이밍 규칙은 레이아웃</a:t>
            </a:r>
            <a:r>
              <a:rPr lang="en-US" altLang="ko-KR" b="0" dirty="0"/>
              <a:t>, </a:t>
            </a:r>
            <a:r>
              <a:rPr lang="ko-KR" altLang="en-US" b="0" dirty="0"/>
              <a:t>객체</a:t>
            </a:r>
            <a:r>
              <a:rPr lang="en-US" altLang="ko-KR" b="0" dirty="0"/>
              <a:t>, </a:t>
            </a:r>
            <a:r>
              <a:rPr lang="ko-KR" altLang="en-US" b="0" dirty="0"/>
              <a:t>이미지</a:t>
            </a:r>
            <a:r>
              <a:rPr lang="en-US" altLang="ko-KR" b="0" dirty="0"/>
              <a:t>, </a:t>
            </a:r>
            <a:r>
              <a:rPr lang="ko-KR" altLang="en-US" b="0" dirty="0"/>
              <a:t>폴더</a:t>
            </a:r>
            <a:r>
              <a:rPr lang="en-US" altLang="ko-KR" b="0" dirty="0"/>
              <a:t>, </a:t>
            </a:r>
            <a:r>
              <a:rPr lang="ko-KR" altLang="en-US" b="0" dirty="0"/>
              <a:t>파일의 이름을 작성하는 규칙이다</a:t>
            </a:r>
            <a:r>
              <a:rPr lang="en-US" altLang="ko-KR" b="0" dirty="0"/>
              <a:t>. </a:t>
            </a:r>
            <a:r>
              <a:rPr lang="ko-KR" altLang="en-US" b="0" dirty="0"/>
              <a:t>이해하기 쉬운 이름으로 </a:t>
            </a:r>
            <a:endParaRPr lang="en-US" altLang="ko-KR" b="0" dirty="0"/>
          </a:p>
          <a:p>
            <a:pPr algn="just" eaLnBrk="1" latinLnBrk="1" hangingPunct="1">
              <a:defRPr/>
            </a:pPr>
            <a:r>
              <a:rPr lang="en-US" altLang="ko-KR" b="0" dirty="0"/>
              <a:t>   </a:t>
            </a:r>
            <a:r>
              <a:rPr lang="ko-KR" altLang="en-US" b="0" dirty="0"/>
              <a:t>작성해 야 코드를 쉽게 파악할 수 있다</a:t>
            </a:r>
            <a:r>
              <a:rPr lang="en-US" altLang="ko-KR" b="0" dirty="0"/>
              <a:t>. </a:t>
            </a:r>
            <a:r>
              <a:rPr lang="ko-KR" altLang="en-US" b="0" dirty="0"/>
              <a:t>단</a:t>
            </a:r>
            <a:r>
              <a:rPr lang="en-US" altLang="ko-KR" b="0" dirty="0"/>
              <a:t>, </a:t>
            </a:r>
            <a:r>
              <a:rPr lang="ko-KR" altLang="en-US" b="0" dirty="0"/>
              <a:t>모바일과 같이 성능</a:t>
            </a:r>
            <a:r>
              <a:rPr lang="en-US" altLang="ko-KR" b="0" dirty="0"/>
              <a:t>, </a:t>
            </a:r>
            <a:r>
              <a:rPr lang="ko-KR" altLang="en-US" b="0" dirty="0"/>
              <a:t>네트워크 속도를 고려해야 하는 경우 축약된 </a:t>
            </a:r>
            <a:endParaRPr lang="en-US" altLang="ko-KR" b="0" dirty="0"/>
          </a:p>
          <a:p>
            <a:pPr algn="just" eaLnBrk="1" latinLnBrk="1" hangingPunct="1">
              <a:defRPr/>
            </a:pPr>
            <a:r>
              <a:rPr lang="en-US" altLang="ko-KR" b="0" dirty="0"/>
              <a:t>   </a:t>
            </a:r>
            <a:r>
              <a:rPr lang="ko-KR" altLang="en-US" b="0" dirty="0"/>
              <a:t>형태로 작성할 수 있다</a:t>
            </a:r>
            <a:r>
              <a:rPr lang="en-US" altLang="ko-KR" b="0" dirty="0"/>
              <a:t>.</a:t>
            </a:r>
          </a:p>
          <a:p>
            <a:pPr algn="just" eaLnBrk="1" latinLnBrk="1" hangingPunct="1">
              <a:defRPr/>
            </a:pPr>
            <a:endParaRPr lang="en-US" altLang="ko-KR" b="0" dirty="0"/>
          </a:p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en-US" altLang="ko-KR" b="0" dirty="0"/>
              <a:t>HTML </a:t>
            </a:r>
            <a:r>
              <a:rPr lang="ko-KR" altLang="en-US" b="0" dirty="0"/>
              <a:t>코드 작성 규칙</a:t>
            </a:r>
            <a:endParaRPr lang="en-US" altLang="ko-KR" b="0" dirty="0"/>
          </a:p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들여쓰기 </a:t>
            </a:r>
            <a:r>
              <a:rPr lang="en-US" altLang="ko-KR" b="0" dirty="0"/>
              <a:t>: HTML </a:t>
            </a:r>
            <a:r>
              <a:rPr lang="ko-KR" altLang="en-US" b="0" dirty="0"/>
              <a:t>코드를 작성할 때 코드의 </a:t>
            </a:r>
            <a:r>
              <a:rPr lang="ko-KR" altLang="en-US" b="0" dirty="0" err="1"/>
              <a:t>가독성을</a:t>
            </a:r>
            <a:r>
              <a:rPr lang="ko-KR" altLang="en-US" b="0" dirty="0"/>
              <a:t> 높이기 위하여 왼쪽 첫 번째 열부터 오른쪽으로 일정한 간격만큼 띄어 쓴다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빈 줄 </a:t>
            </a:r>
            <a:r>
              <a:rPr lang="en-US" altLang="ko-KR" b="0" dirty="0"/>
              <a:t>: HTML </a:t>
            </a:r>
            <a:r>
              <a:rPr lang="ko-KR" altLang="en-US" b="0" dirty="0"/>
              <a:t>코드의 빈 줄은 코드 그룹의 영역을 표시하기 위하여 사용한다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en-US" altLang="ko-KR" b="0" dirty="0"/>
              <a:t>DTD </a:t>
            </a:r>
            <a:r>
              <a:rPr lang="ko-KR" altLang="en-US" b="0" dirty="0"/>
              <a:t>및 </a:t>
            </a:r>
            <a:r>
              <a:rPr lang="ko-KR" altLang="en-US" b="0" dirty="0" err="1"/>
              <a:t>인코딩</a:t>
            </a:r>
            <a:r>
              <a:rPr lang="ko-KR" altLang="en-US" b="0" dirty="0"/>
              <a:t> </a:t>
            </a:r>
            <a:r>
              <a:rPr lang="en-US" altLang="ko-KR" b="0" dirty="0"/>
              <a:t>: DTD(Document Type Definition)</a:t>
            </a:r>
            <a:r>
              <a:rPr lang="ko-KR" altLang="en-US" b="0" dirty="0"/>
              <a:t>는 </a:t>
            </a:r>
            <a:r>
              <a:rPr lang="en-US" altLang="ko-KR" b="0" dirty="0"/>
              <a:t>SGML(Standard Generalized Markup Language) </a:t>
            </a:r>
            <a:r>
              <a:rPr lang="ko-KR" altLang="en-US" b="0" dirty="0"/>
              <a:t>계열 링크 업 언어의 문서 타입을 정의하는 것으로서</a:t>
            </a:r>
            <a:r>
              <a:rPr lang="en-US" altLang="ko-KR" b="0" dirty="0"/>
              <a:t>, </a:t>
            </a:r>
            <a:r>
              <a:rPr lang="ko-KR" altLang="en-US" b="0" dirty="0"/>
              <a:t>해당 </a:t>
            </a:r>
            <a:r>
              <a:rPr lang="en-US" altLang="ko-KR" b="0" dirty="0"/>
              <a:t>HTML </a:t>
            </a:r>
            <a:r>
              <a:rPr lang="ko-KR" altLang="en-US" b="0" dirty="0"/>
              <a:t>문서가 어떤 버전의 </a:t>
            </a:r>
            <a:r>
              <a:rPr lang="en-US" altLang="ko-KR" b="0" dirty="0"/>
              <a:t>HTML</a:t>
            </a:r>
            <a:r>
              <a:rPr lang="ko-KR" altLang="en-US" b="0" dirty="0"/>
              <a:t>로 작성되었는지</a:t>
            </a:r>
            <a:r>
              <a:rPr lang="en-US" altLang="ko-KR" b="0" dirty="0"/>
              <a:t>, </a:t>
            </a:r>
            <a:r>
              <a:rPr lang="ko-KR" altLang="en-US" b="0" dirty="0"/>
              <a:t>어떤 규칙으로 내용을 기술하고 어떤 </a:t>
            </a:r>
            <a:r>
              <a:rPr lang="ko-KR" altLang="en-US" b="0" dirty="0" err="1"/>
              <a:t>엘리먼트와</a:t>
            </a:r>
            <a:r>
              <a:rPr lang="ko-KR" altLang="en-US" b="0" dirty="0"/>
              <a:t> </a:t>
            </a:r>
            <a:r>
              <a:rPr lang="ko-KR" altLang="en-US" b="0" dirty="0" err="1"/>
              <a:t>애트리뷰트</a:t>
            </a:r>
            <a:r>
              <a:rPr lang="en-US" altLang="ko-KR" b="0" dirty="0"/>
              <a:t>, </a:t>
            </a:r>
            <a:r>
              <a:rPr lang="ko-KR" altLang="en-US" b="0" dirty="0" err="1"/>
              <a:t>애트리뷰트값을</a:t>
            </a:r>
            <a:r>
              <a:rPr lang="ko-KR" altLang="en-US" b="0" dirty="0"/>
              <a:t> 지정할 수 있는지 정의한다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주석 </a:t>
            </a:r>
            <a:r>
              <a:rPr lang="en-US" altLang="ko-KR" b="0" dirty="0"/>
              <a:t>: HTML </a:t>
            </a:r>
            <a:r>
              <a:rPr lang="ko-KR" altLang="en-US" b="0" dirty="0"/>
              <a:t>코드의 주석은 코드 그룹을 구분하거나</a:t>
            </a:r>
            <a:r>
              <a:rPr lang="en-US" altLang="ko-KR" b="0" dirty="0"/>
              <a:t>, </a:t>
            </a:r>
            <a:r>
              <a:rPr lang="ko-KR" altLang="en-US" b="0" dirty="0"/>
              <a:t>코드의 수정과 삭제를 표시하거나</a:t>
            </a:r>
            <a:r>
              <a:rPr lang="en-US" altLang="ko-KR" b="0" dirty="0"/>
              <a:t>, </a:t>
            </a:r>
            <a:r>
              <a:rPr lang="ko-KR" altLang="en-US" b="0" dirty="0"/>
              <a:t>개발자가 참고해야 하는 사항을 기술한다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algn="just" eaLnBrk="1" latinLnBrk="1" hangingPunct="1">
              <a:defRPr/>
            </a:pPr>
            <a:endParaRPr lang="en-US" altLang="ko-KR" b="0" dirty="0"/>
          </a:p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en-US" altLang="ko-KR" b="0" dirty="0"/>
              <a:t>HTML</a:t>
            </a:r>
            <a:r>
              <a:rPr lang="ko-KR" altLang="en-US" b="0" dirty="0" err="1"/>
              <a:t>엘리먼트작성</a:t>
            </a:r>
            <a:r>
              <a:rPr lang="ko-KR" altLang="en-US" b="0" dirty="0"/>
              <a:t> 규칙</a:t>
            </a:r>
            <a:endParaRPr lang="en-US" altLang="ko-KR" b="0" dirty="0"/>
          </a:p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endParaRPr lang="ko-KR" altLang="en-US" b="0" dirty="0"/>
          </a:p>
          <a:p>
            <a:pPr indent="84138" eaLnBrk="1" latinLnBrk="1" hangingPunct="1">
              <a:defRPr/>
            </a:pPr>
            <a:r>
              <a:rPr lang="en-US" altLang="ko-KR" b="0" dirty="0"/>
              <a:t>   HTML </a:t>
            </a:r>
            <a:r>
              <a:rPr lang="ko-KR" altLang="en-US" b="0" dirty="0" err="1"/>
              <a:t>엘리먼트</a:t>
            </a:r>
            <a:r>
              <a:rPr lang="ko-KR" altLang="en-US" b="0" dirty="0"/>
              <a:t> 작성 규칙은 반드시 선언해야 하는 </a:t>
            </a:r>
            <a:r>
              <a:rPr lang="ko-KR" altLang="en-US" b="0" dirty="0" err="1"/>
              <a:t>애트리뷰트와</a:t>
            </a:r>
            <a:r>
              <a:rPr lang="ko-KR" altLang="en-US" b="0" dirty="0"/>
              <a:t> 선택적 사용이 가능한 </a:t>
            </a:r>
            <a:r>
              <a:rPr lang="ko-KR" altLang="en-US" b="0" dirty="0" err="1"/>
              <a:t>애트리뷰트에</a:t>
            </a:r>
            <a:r>
              <a:rPr lang="ko-KR" altLang="en-US" b="0" dirty="0"/>
              <a:t> 대한 </a:t>
            </a:r>
            <a:endParaRPr lang="en-US" altLang="ko-KR" b="0" dirty="0"/>
          </a:p>
          <a:p>
            <a:pPr indent="84138" eaLnBrk="1" latinLnBrk="1" hangingPunct="1">
              <a:defRPr/>
            </a:pPr>
            <a:r>
              <a:rPr lang="ko-KR" altLang="en-US" b="0" dirty="0"/>
              <a:t>  내용을 기술하고 선언 순서를 제시하여 코드 품질을 유지한다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ECC21827-7AA3-47CC-608D-86ECEF82E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8445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2.1 </a:t>
            </a:r>
            <a:r>
              <a:rPr lang="ko-KR" altLang="en-US" sz="1400" b="0" dirty="0">
                <a:latin typeface="+mj-lt"/>
                <a:ea typeface="굴림" charset="-127"/>
              </a:rPr>
              <a:t>규칙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7371D-E52B-EED9-8988-ED03B79B0A3F}"/>
              </a:ext>
            </a:extLst>
          </p:cNvPr>
          <p:cNvSpPr txBox="1"/>
          <p:nvPr/>
        </p:nvSpPr>
        <p:spPr>
          <a:xfrm>
            <a:off x="519113" y="1712913"/>
            <a:ext cx="8069262" cy="45243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en-US" altLang="ko-KR" b="0" dirty="0"/>
              <a:t>CSS </a:t>
            </a:r>
            <a:r>
              <a:rPr lang="ko-KR" altLang="en-US" b="0" dirty="0"/>
              <a:t>코드 작성 규칙</a:t>
            </a:r>
            <a:endParaRPr lang="en-US" altLang="ko-KR" b="0" dirty="0"/>
          </a:p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들여쓰기 </a:t>
            </a:r>
            <a:r>
              <a:rPr lang="en-US" altLang="ko-KR" b="0" dirty="0"/>
              <a:t>: CSS </a:t>
            </a:r>
            <a:r>
              <a:rPr lang="ko-KR" altLang="en-US" b="0" dirty="0"/>
              <a:t>코드는 들여쓰기를 하지 않는다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공백 </a:t>
            </a:r>
            <a:r>
              <a:rPr lang="en-US" altLang="ko-KR" b="0" dirty="0"/>
              <a:t>: CSS </a:t>
            </a:r>
            <a:r>
              <a:rPr lang="ko-KR" altLang="en-US" b="0" dirty="0"/>
              <a:t>코드는 공백을 최소화 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빈 줄 </a:t>
            </a:r>
            <a:r>
              <a:rPr lang="en-US" altLang="ko-KR" b="0" dirty="0"/>
              <a:t>: CSS </a:t>
            </a:r>
            <a:r>
              <a:rPr lang="ko-KR" altLang="en-US" b="0" dirty="0"/>
              <a:t>코드의 빈 줄은 코드 그룹의 영역을 표시하기 위하여 사용한다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줄 바꿈 </a:t>
            </a:r>
            <a:r>
              <a:rPr lang="en-US" altLang="ko-KR" b="0" dirty="0"/>
              <a:t>: CSS </a:t>
            </a:r>
            <a:r>
              <a:rPr lang="ko-KR" altLang="en-US" b="0" dirty="0"/>
              <a:t>코드의 가독성을 위한 줄 바꿈은 하지 않는다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인코딩 </a:t>
            </a:r>
            <a:r>
              <a:rPr lang="en-US" altLang="ko-KR" b="0" dirty="0"/>
              <a:t>: CSS</a:t>
            </a:r>
            <a:r>
              <a:rPr lang="ko-KR" altLang="en-US" b="0" dirty="0"/>
              <a:t>의 인코딩은 </a:t>
            </a:r>
            <a:r>
              <a:rPr lang="en-US" altLang="ko-KR" b="0" dirty="0"/>
              <a:t>HTML</a:t>
            </a:r>
            <a:r>
              <a:rPr lang="ko-KR" altLang="en-US" b="0" dirty="0"/>
              <a:t>의 인코딩과 동일하게 선언하여 </a:t>
            </a:r>
            <a:r>
              <a:rPr lang="en-US" altLang="ko-KR" b="0" dirty="0"/>
              <a:t>HTML </a:t>
            </a:r>
            <a:r>
              <a:rPr lang="ko-KR" altLang="en-US" b="0" dirty="0"/>
              <a:t>문서가 브라우저에서 바르게 해석될 수 있도록 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 err="1"/>
              <a:t>선택자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b="0" dirty="0" err="1"/>
              <a:t>선택자</a:t>
            </a:r>
            <a:r>
              <a:rPr lang="ko-KR" altLang="en-US" b="0" dirty="0"/>
              <a:t> 버그가 발생하지 않도록 사용 규칙을 준수한다</a:t>
            </a:r>
            <a:r>
              <a:rPr lang="en-US" altLang="ko-KR" b="0" dirty="0"/>
              <a:t>.(</a:t>
            </a:r>
            <a:r>
              <a:rPr lang="ko-KR" altLang="en-US" b="0" dirty="0"/>
              <a:t>예시 </a:t>
            </a:r>
            <a:r>
              <a:rPr lang="en-US" altLang="ko-KR" b="0" dirty="0"/>
              <a:t>: </a:t>
            </a:r>
            <a:r>
              <a:rPr lang="en-US" altLang="ko-KR" b="0" dirty="0" err="1"/>
              <a:t>addClass-addclass</a:t>
            </a:r>
            <a:r>
              <a:rPr lang="en-US" altLang="ko-KR" b="0" dirty="0"/>
              <a:t>)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속성 </a:t>
            </a:r>
            <a:r>
              <a:rPr lang="en-US" altLang="ko-KR" b="0" dirty="0"/>
              <a:t>: </a:t>
            </a:r>
            <a:r>
              <a:rPr lang="ko-KR" altLang="en-US" b="0" dirty="0"/>
              <a:t>속성 선언 순서를 준수하여 개발자가 코드를 쉽게 파악할 수 있도록 하며</a:t>
            </a:r>
            <a:r>
              <a:rPr lang="en-US" altLang="ko-KR" b="0" dirty="0"/>
              <a:t>, CSS </a:t>
            </a:r>
            <a:r>
              <a:rPr lang="ko-KR" altLang="en-US" b="0" dirty="0"/>
              <a:t>코드 최적화를 위해 속성 값을 축약하여 사용하고 약식 속성을 허용 범위에 맞게 사용한다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en-US" altLang="ko-KR" b="0" dirty="0"/>
              <a:t>z-index : z-index </a:t>
            </a:r>
            <a:r>
              <a:rPr lang="ko-KR" altLang="en-US" b="0" dirty="0"/>
              <a:t>속성 값을 범위에 맞게 사용하여 객체가 브라우저에서 바르게 표현되도록 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핵 </a:t>
            </a:r>
            <a:r>
              <a:rPr lang="en-US" altLang="ko-KR" b="0" dirty="0"/>
              <a:t>: </a:t>
            </a:r>
            <a:r>
              <a:rPr lang="ko-KR" altLang="en-US" b="0" dirty="0"/>
              <a:t>크로스 </a:t>
            </a:r>
            <a:r>
              <a:rPr lang="ko-KR" altLang="en-US" b="0" dirty="0" err="1"/>
              <a:t>브라우징을</a:t>
            </a:r>
            <a:r>
              <a:rPr lang="ko-KR" altLang="en-US" b="0" dirty="0"/>
              <a:t> 위해 제시된 핵</a:t>
            </a:r>
            <a:r>
              <a:rPr lang="en-US" altLang="ko-KR" b="0" dirty="0"/>
              <a:t>(hack)</a:t>
            </a:r>
            <a:r>
              <a:rPr lang="ko-KR" altLang="en-US" b="0" dirty="0"/>
              <a:t>에 한해 최소한의 사용을 허용한다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en-US" altLang="ko-KR" b="0" dirty="0"/>
              <a:t> CSS </a:t>
            </a:r>
            <a:r>
              <a:rPr lang="ko-KR" altLang="en-US" b="0" dirty="0"/>
              <a:t>선언 타입 </a:t>
            </a:r>
            <a:r>
              <a:rPr lang="en-US" altLang="ko-KR" b="0" dirty="0"/>
              <a:t>: </a:t>
            </a:r>
            <a:r>
              <a:rPr lang="ko-KR" altLang="en-US" b="0" dirty="0"/>
              <a:t>상황에 알맞은 </a:t>
            </a:r>
            <a:r>
              <a:rPr lang="en-US" altLang="ko-KR" b="0" dirty="0"/>
              <a:t>CSS </a:t>
            </a:r>
            <a:r>
              <a:rPr lang="ko-KR" altLang="en-US" b="0" dirty="0"/>
              <a:t>선언 타입을 선택한다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en-US" altLang="ko-KR" b="0" dirty="0"/>
              <a:t> </a:t>
            </a:r>
            <a:r>
              <a:rPr lang="ko-KR" altLang="en-US" b="0" dirty="0"/>
              <a:t>주석 </a:t>
            </a:r>
            <a:r>
              <a:rPr lang="en-US" altLang="ko-KR" b="0" dirty="0"/>
              <a:t>: CSS </a:t>
            </a:r>
            <a:r>
              <a:rPr lang="ko-KR" altLang="en-US" b="0" dirty="0"/>
              <a:t>코드의 주석은 코드 그룹을 구분하거나</a:t>
            </a:r>
            <a:r>
              <a:rPr lang="en-US" altLang="ko-KR" b="0" dirty="0"/>
              <a:t>, </a:t>
            </a:r>
            <a:r>
              <a:rPr lang="ko-KR" altLang="en-US" b="0" dirty="0"/>
              <a:t>코드의 수정과 삭제를 표시하거나</a:t>
            </a:r>
            <a:r>
              <a:rPr lang="en-US" altLang="ko-KR" b="0" dirty="0"/>
              <a:t>, </a:t>
            </a:r>
            <a:r>
              <a:rPr lang="ko-KR" altLang="en-US" b="0" dirty="0"/>
              <a:t>개발자가 참고해야 하는 사항을 기술한다</a:t>
            </a:r>
            <a:endParaRPr lang="en-US" altLang="ko-KR" b="0" dirty="0"/>
          </a:p>
          <a:p>
            <a:pPr marL="263525" indent="-179388" eaLnBrk="1" latinLnBrk="1" hangingPunct="1">
              <a:buFont typeface="Wingdings" panose="05000000000000000000" pitchFamily="2" charset="2"/>
              <a:buChar char="l"/>
              <a:defRPr/>
            </a:pPr>
            <a:endParaRPr lang="en-US" altLang="ko-KR" b="0" dirty="0"/>
          </a:p>
          <a:p>
            <a:pPr marL="182563" indent="-182563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b="0" dirty="0"/>
              <a:t>웹 접근성 보장 방법</a:t>
            </a:r>
            <a:endParaRPr lang="en-US" altLang="ko-KR" b="0" dirty="0"/>
          </a:p>
          <a:p>
            <a:pPr marL="182563" indent="-182563" eaLnBrk="1" latinLnBrk="1" hangingPunct="1">
              <a:buFont typeface="Wingdings" panose="05000000000000000000" pitchFamily="2" charset="2"/>
              <a:buChar char="l"/>
              <a:defRPr/>
            </a:pPr>
            <a:endParaRPr lang="ko-KR" altLang="en-US" b="0" dirty="0"/>
          </a:p>
          <a:p>
            <a:pPr marL="84138" eaLnBrk="1" latinLnBrk="1" hangingPunct="1">
              <a:defRPr/>
            </a:pPr>
            <a:r>
              <a:rPr lang="en-US" altLang="ko-KR" b="0" dirty="0"/>
              <a:t>1. ARIA </a:t>
            </a:r>
            <a:r>
              <a:rPr lang="ko-KR" altLang="en-US" b="0" dirty="0"/>
              <a:t>속성 사용  </a:t>
            </a:r>
          </a:p>
          <a:p>
            <a:pPr marL="84138" eaLnBrk="1" latinLnBrk="1" hangingPunct="1">
              <a:defRPr/>
            </a:pPr>
            <a:r>
              <a:rPr lang="en-US" altLang="ko-KR" b="0" dirty="0"/>
              <a:t>2. </a:t>
            </a:r>
            <a:r>
              <a:rPr lang="ko-KR" altLang="en-US" b="0" dirty="0"/>
              <a:t>키보드 네비게이션 지원  </a:t>
            </a:r>
          </a:p>
          <a:p>
            <a:pPr marL="84138" eaLnBrk="1" latinLnBrk="1" hangingPunct="1">
              <a:defRPr/>
            </a:pPr>
            <a:r>
              <a:rPr lang="en-US" altLang="ko-KR" b="0" dirty="0"/>
              <a:t>3. </a:t>
            </a:r>
            <a:r>
              <a:rPr lang="ko-KR" altLang="en-US" b="0" dirty="0"/>
              <a:t>대체 텍스트</a:t>
            </a:r>
            <a:r>
              <a:rPr lang="en-US" altLang="ko-KR" b="0" dirty="0"/>
              <a:t>(alt) </a:t>
            </a:r>
            <a:r>
              <a:rPr lang="ko-KR" altLang="en-US" b="0" dirty="0"/>
              <a:t>제공  </a:t>
            </a:r>
          </a:p>
          <a:p>
            <a:pPr marL="84138" eaLnBrk="1" latinLnBrk="1" hangingPunct="1">
              <a:defRPr/>
            </a:pPr>
            <a:r>
              <a:rPr lang="en-US" altLang="ko-KR" b="0" dirty="0"/>
              <a:t>4. </a:t>
            </a:r>
            <a:r>
              <a:rPr lang="ko-KR" altLang="en-US" b="0" dirty="0"/>
              <a:t>명확한 </a:t>
            </a:r>
            <a:r>
              <a:rPr lang="ko-KR" altLang="en-US" b="0" dirty="0" err="1"/>
              <a:t>라벨링</a:t>
            </a:r>
            <a:r>
              <a:rPr lang="ko-KR" altLang="en-US" b="0" dirty="0"/>
              <a:t> 및 폼 요소 연관성 확보 </a:t>
            </a:r>
          </a:p>
          <a:p>
            <a:pPr marL="171450" indent="-171450" algn="just" eaLnBrk="1" latinLnBrk="1" hangingPunct="1">
              <a:buFont typeface="Wingdings" panose="05000000000000000000" pitchFamily="2" charset="2"/>
              <a:buChar char="l"/>
              <a:defRPr/>
            </a:pPr>
            <a:endParaRPr lang="ko-KR" altLang="en-US" b="0" dirty="0"/>
          </a:p>
        </p:txBody>
      </p:sp>
      <p:sp>
        <p:nvSpPr>
          <p:cNvPr id="15364" name="Text Box 2">
            <a:extLst>
              <a:ext uri="{FF2B5EF4-FFF2-40B4-BE49-F238E27FC236}">
                <a16:creationId xmlns:a16="http://schemas.microsoft.com/office/drawing/2014/main" id="{43562249-D4D7-1871-E7E4-43716F21F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76C477C9-69E3-6764-99DE-1091F644D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8445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2.2 </a:t>
            </a:r>
            <a:r>
              <a:rPr lang="ko-KR" altLang="en-US" sz="1400" b="0" dirty="0">
                <a:latin typeface="+mj-lt"/>
                <a:ea typeface="굴림" charset="-127"/>
              </a:rPr>
              <a:t>용어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B26AB-C884-296C-8DB7-4F1103178E1D}"/>
              </a:ext>
            </a:extLst>
          </p:cNvPr>
          <p:cNvSpPr txBox="1"/>
          <p:nvPr/>
        </p:nvSpPr>
        <p:spPr>
          <a:xfrm>
            <a:off x="519113" y="1712913"/>
            <a:ext cx="8178800" cy="36009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b="0" dirty="0"/>
              <a:t>용어</a:t>
            </a:r>
            <a:endParaRPr lang="en-US" altLang="ko-KR" b="0" dirty="0"/>
          </a:p>
          <a:p>
            <a:pPr marL="171450" indent="-171450" eaLnBrk="1" latinLnBrk="1" hangingPunct="1">
              <a:buFont typeface="Wingdings" panose="05000000000000000000" pitchFamily="2" charset="2"/>
              <a:buChar char="l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 err="1"/>
              <a:t>엘리먼트</a:t>
            </a:r>
            <a:r>
              <a:rPr lang="en-US" altLang="ko-KR" b="0" dirty="0"/>
              <a:t>(Element) : HTML </a:t>
            </a:r>
            <a:r>
              <a:rPr lang="ko-KR" altLang="en-US" b="0" dirty="0"/>
              <a:t>문서를 구성하는 요소를 의미한다</a:t>
            </a:r>
            <a:r>
              <a:rPr lang="en-US" altLang="ko-KR" b="0" dirty="0"/>
              <a:t>. </a:t>
            </a:r>
            <a:r>
              <a:rPr lang="ko-KR" altLang="en-US" b="0" dirty="0"/>
              <a:t>일반적으로 시작 태그</a:t>
            </a:r>
            <a:r>
              <a:rPr lang="en-US" altLang="ko-KR" b="0" dirty="0"/>
              <a:t>, </a:t>
            </a:r>
            <a:r>
              <a:rPr lang="ko-KR" altLang="en-US" b="0" dirty="0"/>
              <a:t>내용</a:t>
            </a:r>
            <a:r>
              <a:rPr lang="en-US" altLang="ko-KR" b="0" dirty="0"/>
              <a:t>, </a:t>
            </a:r>
            <a:r>
              <a:rPr lang="ko-KR" altLang="en-US" b="0" dirty="0"/>
              <a:t>종료 태그로 구성된다</a:t>
            </a:r>
            <a:r>
              <a:rPr lang="en-US" altLang="ko-KR" b="0" dirty="0"/>
              <a:t>.</a:t>
            </a:r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 err="1"/>
              <a:t>애트리뷰트</a:t>
            </a:r>
            <a:r>
              <a:rPr lang="en-US" altLang="ko-KR" b="0" dirty="0"/>
              <a:t>(attribute) : </a:t>
            </a:r>
            <a:r>
              <a:rPr lang="ko-KR" altLang="en-US" b="0" dirty="0" err="1"/>
              <a:t>엘리먼트에</a:t>
            </a:r>
            <a:r>
              <a:rPr lang="ko-KR" altLang="en-US" b="0" dirty="0"/>
              <a:t> 부여할 수 있는 특성을 의미한다</a:t>
            </a:r>
            <a:r>
              <a:rPr lang="en-US" altLang="ko-KR" b="0" dirty="0"/>
              <a:t>. </a:t>
            </a:r>
            <a:r>
              <a:rPr lang="ko-KR" altLang="en-US" b="0" dirty="0"/>
              <a:t>기본값이 설정되어 있으나 </a:t>
            </a:r>
            <a:r>
              <a:rPr lang="ko-KR" altLang="en-US" b="0" dirty="0" err="1"/>
              <a:t>애트리뷰트를</a:t>
            </a:r>
            <a:r>
              <a:rPr lang="ko-KR" altLang="en-US" b="0" dirty="0"/>
              <a:t> 선언하여 다른 값으로 설정할 수 있다</a:t>
            </a:r>
            <a:r>
              <a:rPr lang="en-US" altLang="ko-KR" b="0" dirty="0"/>
              <a:t>.</a:t>
            </a:r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 err="1"/>
              <a:t>선택자</a:t>
            </a:r>
            <a:r>
              <a:rPr lang="en-US" altLang="ko-KR" b="0" dirty="0"/>
              <a:t>(selector) : </a:t>
            </a:r>
            <a:r>
              <a:rPr lang="ko-KR" altLang="en-US" b="0" dirty="0" err="1"/>
              <a:t>엘리먼트에</a:t>
            </a:r>
            <a:r>
              <a:rPr lang="ko-KR" altLang="en-US" b="0" dirty="0"/>
              <a:t> </a:t>
            </a:r>
            <a:r>
              <a:rPr lang="en-US" altLang="ko-KR" b="0" dirty="0"/>
              <a:t>CSS </a:t>
            </a:r>
            <a:r>
              <a:rPr lang="ko-KR" altLang="en-US" b="0" dirty="0"/>
              <a:t>스타일을 적용하기 위한 패턴이다</a:t>
            </a:r>
            <a:r>
              <a:rPr lang="en-US" altLang="ko-KR" b="0" dirty="0"/>
              <a:t>. </a:t>
            </a:r>
            <a:r>
              <a:rPr lang="ko-KR" altLang="en-US" b="0" dirty="0"/>
              <a:t>이 문서에서 언급하는 선택자의 종류는 다음 표 </a:t>
            </a:r>
            <a:r>
              <a:rPr lang="en-US" altLang="ko-KR" b="0" dirty="0"/>
              <a:t>1-1</a:t>
            </a:r>
            <a:r>
              <a:rPr lang="ko-KR" altLang="en-US" b="0" dirty="0"/>
              <a:t>과 같다</a:t>
            </a:r>
            <a:r>
              <a:rPr lang="en-US" altLang="ko-KR" b="0" dirty="0"/>
              <a:t>.</a:t>
            </a:r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속성</a:t>
            </a:r>
            <a:r>
              <a:rPr lang="en-US" altLang="ko-KR" b="0" dirty="0"/>
              <a:t>(property) : </a:t>
            </a:r>
            <a:r>
              <a:rPr lang="ko-KR" altLang="en-US" b="0" dirty="0" err="1"/>
              <a:t>엘리먼트에</a:t>
            </a:r>
            <a:r>
              <a:rPr lang="ko-KR" altLang="en-US" b="0" dirty="0"/>
              <a:t> 부여할 </a:t>
            </a:r>
            <a:r>
              <a:rPr lang="en-US" altLang="ko-KR" b="0" dirty="0"/>
              <a:t>CSS </a:t>
            </a:r>
            <a:r>
              <a:rPr lang="ko-KR" altLang="en-US" b="0" dirty="0"/>
              <a:t>스타일 특성을 의미한다</a:t>
            </a:r>
            <a:r>
              <a:rPr lang="en-US" altLang="ko-KR" b="0" dirty="0"/>
              <a:t>. </a:t>
            </a:r>
            <a:r>
              <a:rPr lang="ko-KR" altLang="en-US" b="0" dirty="0"/>
              <a:t>기본값이 설정되어 있으나 속성을 선언하여 다른 값으로 설정할 수 있다</a:t>
            </a:r>
            <a:r>
              <a:rPr lang="en-US" altLang="ko-KR" b="0" dirty="0"/>
              <a:t>. </a:t>
            </a:r>
            <a:r>
              <a:rPr lang="ko-KR" altLang="en-US" b="0" dirty="0"/>
              <a:t>각 속성 단위는 세미콜론</a:t>
            </a:r>
            <a:r>
              <a:rPr lang="en-US" altLang="ko-KR" b="0" dirty="0"/>
              <a:t>(;)</a:t>
            </a:r>
            <a:r>
              <a:rPr lang="ko-KR" altLang="en-US" b="0" dirty="0"/>
              <a:t>으로 구분 지어 선언한다</a:t>
            </a:r>
            <a:r>
              <a:rPr lang="en-US" altLang="ko-KR" b="0" dirty="0"/>
              <a:t>.</a:t>
            </a:r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/>
              <a:t>속성값</a:t>
            </a:r>
            <a:r>
              <a:rPr lang="en-US" altLang="ko-KR" b="0" dirty="0"/>
              <a:t>(value) : </a:t>
            </a:r>
            <a:r>
              <a:rPr lang="ko-KR" altLang="en-US" b="0" dirty="0"/>
              <a:t>속성에 부여하는 값으로 콜론</a:t>
            </a:r>
            <a:r>
              <a:rPr lang="en-US" altLang="ko-KR" b="0" dirty="0"/>
              <a:t>(:)</a:t>
            </a:r>
            <a:r>
              <a:rPr lang="ko-KR" altLang="en-US" b="0" dirty="0"/>
              <a:t>으로 구분 지어 선언한다</a:t>
            </a:r>
            <a:r>
              <a:rPr lang="en-US" altLang="ko-KR" b="0" dirty="0"/>
              <a:t>.</a:t>
            </a:r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endParaRPr lang="ko-KR" altLang="en-US" b="0" dirty="0"/>
          </a:p>
          <a:p>
            <a:pPr marL="312737" indent="-228600" eaLnBrk="1" latinLnBrk="1" hangingPunct="1">
              <a:buFont typeface="+mj-lt"/>
              <a:buAutoNum type="arabicPeriod"/>
              <a:defRPr/>
            </a:pPr>
            <a:r>
              <a:rPr lang="ko-KR" altLang="en-US" b="0" dirty="0" err="1"/>
              <a:t>예약어</a:t>
            </a:r>
            <a:r>
              <a:rPr lang="ko-KR" altLang="en-US" b="0" dirty="0"/>
              <a:t> </a:t>
            </a:r>
            <a:r>
              <a:rPr lang="en-US" altLang="ko-KR" b="0" dirty="0"/>
              <a:t>: </a:t>
            </a:r>
            <a:r>
              <a:rPr lang="ko-KR" altLang="en-US" b="0" dirty="0"/>
              <a:t>이 문서에서 사용하는 예약어는 일반적인 의미와 다르게 사용된다</a:t>
            </a:r>
            <a:r>
              <a:rPr lang="en-US" altLang="ko-KR" b="0" dirty="0"/>
              <a:t>. </a:t>
            </a:r>
            <a:r>
              <a:rPr lang="ko-KR" altLang="en-US" b="0" dirty="0"/>
              <a:t>이 문서에서 예약어는 객체</a:t>
            </a:r>
            <a:r>
              <a:rPr lang="en-US" altLang="ko-KR" b="0" dirty="0"/>
              <a:t>, </a:t>
            </a:r>
            <a:r>
              <a:rPr lang="ko-KR" altLang="en-US" b="0" dirty="0"/>
              <a:t>이미지</a:t>
            </a:r>
            <a:r>
              <a:rPr lang="en-US" altLang="ko-KR" b="0" dirty="0"/>
              <a:t>, </a:t>
            </a:r>
            <a:r>
              <a:rPr lang="ko-KR" altLang="en-US" b="0" dirty="0"/>
              <a:t>파일 및 폴더의 네이밍 시 의미를 일관되게 표현하기 위해 미리 지정해 놓은 일종의 언어 규칙을 의미한다</a:t>
            </a:r>
            <a:r>
              <a:rPr lang="en-US" altLang="ko-KR" b="0" dirty="0"/>
              <a:t>. </a:t>
            </a:r>
            <a:r>
              <a:rPr lang="ko-KR" altLang="en-US" b="0" dirty="0"/>
              <a:t>예를 들어</a:t>
            </a:r>
            <a:r>
              <a:rPr lang="en-US" altLang="ko-KR" b="0" dirty="0"/>
              <a:t>, '</a:t>
            </a:r>
            <a:r>
              <a:rPr lang="ko-KR" altLang="en-US" b="0" dirty="0"/>
              <a:t>검색</a:t>
            </a:r>
            <a:r>
              <a:rPr lang="en-US" altLang="ko-KR" b="0" dirty="0"/>
              <a:t>'</a:t>
            </a:r>
            <a:r>
              <a:rPr lang="ko-KR" altLang="en-US" b="0" dirty="0"/>
              <a:t>을 표현하는 예약어가 </a:t>
            </a:r>
            <a:r>
              <a:rPr lang="en-US" altLang="ko-KR" b="0" dirty="0"/>
              <a:t>'</a:t>
            </a:r>
            <a:r>
              <a:rPr lang="en-US" altLang="ko-KR" b="0" dirty="0" err="1"/>
              <a:t>srch</a:t>
            </a:r>
            <a:r>
              <a:rPr lang="en-US" altLang="ko-KR" b="0" dirty="0"/>
              <a:t>'</a:t>
            </a:r>
            <a:r>
              <a:rPr lang="ko-KR" altLang="en-US" b="0" dirty="0"/>
              <a:t>일 경우</a:t>
            </a:r>
            <a:r>
              <a:rPr lang="en-US" altLang="ko-KR" b="0" dirty="0"/>
              <a:t>, </a:t>
            </a:r>
            <a:r>
              <a:rPr lang="ko-KR" altLang="en-US" b="0" dirty="0"/>
              <a:t>검색 영역을 위한 객체의 </a:t>
            </a:r>
            <a:r>
              <a:rPr lang="en-US" altLang="ko-KR" b="0" dirty="0"/>
              <a:t>class </a:t>
            </a:r>
            <a:r>
              <a:rPr lang="ko-KR" altLang="en-US" b="0" dirty="0"/>
              <a:t>이름은 </a:t>
            </a:r>
            <a:r>
              <a:rPr lang="en-US" altLang="ko-KR" b="0" dirty="0"/>
              <a:t>'</a:t>
            </a:r>
            <a:r>
              <a:rPr lang="en-US" altLang="ko-KR" b="0" dirty="0" err="1"/>
              <a:t>srch</a:t>
            </a:r>
            <a:r>
              <a:rPr lang="en-US" altLang="ko-KR" b="0" dirty="0"/>
              <a:t>'</a:t>
            </a:r>
            <a:r>
              <a:rPr lang="ko-KR" altLang="en-US" b="0" dirty="0"/>
              <a:t>라는 예약어를 반드시 포함해야 한다</a:t>
            </a:r>
            <a:r>
              <a:rPr lang="en-US" altLang="ko-KR" b="0" dirty="0"/>
              <a:t>.</a:t>
            </a:r>
            <a:endParaRPr lang="ko-KR" altLang="en-US" b="0" dirty="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84E83907-230C-A808-8511-FABCB8790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6389" name="Text Box 2">
            <a:extLst>
              <a:ext uri="{FF2B5EF4-FFF2-40B4-BE49-F238E27FC236}">
                <a16:creationId xmlns:a16="http://schemas.microsoft.com/office/drawing/2014/main" id="{5DD6ECA0-EC7A-DBB2-DFC1-D9BDBF996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2267A5F9-474F-017E-D0A7-E3B9A708C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8445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2.2 </a:t>
            </a:r>
            <a:r>
              <a:rPr lang="ko-KR" altLang="en-US" sz="1400" b="0" dirty="0">
                <a:latin typeface="+mj-lt"/>
                <a:ea typeface="굴림" charset="-127"/>
              </a:rPr>
              <a:t>용어</a:t>
            </a:r>
          </a:p>
        </p:txBody>
      </p:sp>
      <p:sp>
        <p:nvSpPr>
          <p:cNvPr id="17411" name="TextBox 10">
            <a:extLst>
              <a:ext uri="{FF2B5EF4-FFF2-40B4-BE49-F238E27FC236}">
                <a16:creationId xmlns:a16="http://schemas.microsoft.com/office/drawing/2014/main" id="{76890902-3140-7F24-C2C7-18248816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712913"/>
            <a:ext cx="8178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179388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b="0"/>
              <a:t>표 </a:t>
            </a:r>
            <a:r>
              <a:rPr lang="en-US" altLang="ko-KR" b="0"/>
              <a:t>1-1 </a:t>
            </a:r>
            <a:r>
              <a:rPr lang="ko-KR" altLang="en-US" b="0"/>
              <a:t>선택자 종류</a:t>
            </a:r>
            <a:endParaRPr lang="en-US" altLang="ko-KR" b="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B7BC3886-E820-9BEA-A58C-2957B0001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7413" name="Text Box 2">
            <a:extLst>
              <a:ext uri="{FF2B5EF4-FFF2-40B4-BE49-F238E27FC236}">
                <a16:creationId xmlns:a16="http://schemas.microsoft.com/office/drawing/2014/main" id="{5B268362-4338-9F4F-3B6E-EB1A35A8B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C6883A8-E7FB-8847-24E9-61C22344D140}"/>
              </a:ext>
            </a:extLst>
          </p:cNvPr>
          <p:cNvGraphicFramePr>
            <a:graphicFrameLocks noGrp="1"/>
          </p:cNvGraphicFramePr>
          <p:nvPr/>
        </p:nvGraphicFramePr>
        <p:xfrm>
          <a:off x="728663" y="2171700"/>
          <a:ext cx="7588249" cy="4029072"/>
        </p:xfrm>
        <a:graphic>
          <a:graphicData uri="http://schemas.openxmlformats.org/drawingml/2006/table">
            <a:tbl>
              <a:tblPr/>
              <a:tblGrid>
                <a:gridCol w="1639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81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패턴 예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요소와 일치함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태그 이름과 일치하는 요소 선택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하위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 p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하위 요소 중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요소와 일치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자식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 &gt; p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직계 자식 요소 중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요소와 일치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형제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 + p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 다음에 위치한 형제 요소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일치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형제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 ~ p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다음에 나오는 모든 형제 요소 중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일치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클래스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div.class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속성이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요소와 일치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div#id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속성이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요소와 일치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 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input[type="text"]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type="text"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속성이 있는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요소 선택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가상 클래스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a:hover, li:first-child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상태나 위치 기반으로 요소 선택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가상 요소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p::before, div::after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실제로는 없지만 스타일을 줄 수 있는 요소 선택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논리 결합자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div, p, div.class1.class2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조합 가능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(AND, OR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:is()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:is(h1, h2, h3)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일치하는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요소 중 하나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일치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:where()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:where(article, aside)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:is()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유사하지만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우선순위 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81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:not()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:not(.active)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제외한 요소 선택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08007" marR="9526" marT="9524" marB="952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2DEA7F76-320F-5B7E-D03F-084821644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12041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2.3 </a:t>
            </a:r>
            <a:r>
              <a:rPr lang="ko-KR" altLang="en-US" sz="1400" b="0" dirty="0">
                <a:latin typeface="+mj-lt"/>
                <a:ea typeface="굴림" charset="-127"/>
              </a:rPr>
              <a:t>초기파일</a:t>
            </a:r>
          </a:p>
        </p:txBody>
      </p:sp>
      <p:sp>
        <p:nvSpPr>
          <p:cNvPr id="19459" name="TextBox 10">
            <a:extLst>
              <a:ext uri="{FF2B5EF4-FFF2-40B4-BE49-F238E27FC236}">
                <a16:creationId xmlns:a16="http://schemas.microsoft.com/office/drawing/2014/main" id="{AF5F4FEC-C2F9-4432-4F2A-9A31F7086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592263"/>
            <a:ext cx="8178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b="0"/>
              <a:t>- </a:t>
            </a:r>
            <a:r>
              <a:rPr lang="ko-KR" altLang="en-US" b="0"/>
              <a:t>초기 파일</a:t>
            </a:r>
            <a:r>
              <a:rPr lang="en-US" altLang="ko-KR" b="0"/>
              <a:t>-1(</a:t>
            </a:r>
            <a:r>
              <a:rPr lang="ko-KR" altLang="en-US" b="0"/>
              <a:t>상단</a:t>
            </a:r>
            <a:r>
              <a:rPr lang="en-US" altLang="ko-KR" b="0"/>
              <a:t>)</a:t>
            </a:r>
            <a:endParaRPr lang="ko-KR" altLang="en-US" b="0"/>
          </a:p>
          <a:p>
            <a:pPr eaLnBrk="1" latinLnBrk="1" hangingPunct="1"/>
            <a:r>
              <a:rPr lang="ko-KR" altLang="en-US" b="0"/>
              <a:t>신규 </a:t>
            </a:r>
            <a:r>
              <a:rPr lang="en-US" altLang="ko-KR" b="0"/>
              <a:t>HTML </a:t>
            </a:r>
            <a:r>
              <a:rPr lang="ko-KR" altLang="en-US" b="0"/>
              <a:t>문서를 작성할 때 아래 파일을 기본으로 한다</a:t>
            </a:r>
            <a:r>
              <a:rPr lang="en-US" altLang="ko-KR" b="0"/>
              <a:t>.</a:t>
            </a:r>
            <a:endParaRPr lang="ko-KR" altLang="en-US" b="0"/>
          </a:p>
          <a:p>
            <a:pPr algn="just" eaLnBrk="1" latinLnBrk="1" hangingPunct="1"/>
            <a:endParaRPr lang="ko-KR" altLang="en-US" b="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68EA6E24-162A-408D-0106-8B8693F65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879A5950-C287-848D-2DE1-D0DD9C9C5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9462" name="Text Box 2">
            <a:extLst>
              <a:ext uri="{FF2B5EF4-FFF2-40B4-BE49-F238E27FC236}">
                <a16:creationId xmlns:a16="http://schemas.microsoft.com/office/drawing/2014/main" id="{C97EF182-22C3-533E-CFDD-45331C06E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463" name="TextBox 2">
            <a:extLst>
              <a:ext uri="{FF2B5EF4-FFF2-40B4-BE49-F238E27FC236}">
                <a16:creationId xmlns:a16="http://schemas.microsoft.com/office/drawing/2014/main" id="{FD1E46D6-0743-B912-149D-1A9163A78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051050"/>
            <a:ext cx="8178800" cy="4156075"/>
          </a:xfrm>
          <a:prstGeom prst="rect">
            <a:avLst/>
          </a:prstGeom>
          <a:solidFill>
            <a:srgbClr val="DDD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b="0"/>
              <a:t>&lt;!DOCTYPE html&gt;</a:t>
            </a:r>
          </a:p>
          <a:p>
            <a:pPr eaLnBrk="1" latinLnBrk="1" hangingPunct="1"/>
            <a:r>
              <a:rPr lang="en-US" altLang="ko-KR" b="0"/>
              <a:t>&lt;html lang="ko"&gt;</a:t>
            </a:r>
          </a:p>
          <a:p>
            <a:pPr eaLnBrk="1" latinLnBrk="1" hangingPunct="1"/>
            <a:r>
              <a:rPr lang="en-US" altLang="ko-KR" b="0"/>
              <a:t>&lt;head&gt;</a:t>
            </a:r>
          </a:p>
          <a:p>
            <a:pPr eaLnBrk="1" latinLnBrk="1" hangingPunct="1"/>
            <a:r>
              <a:rPr lang="en-US" altLang="ko-KR" b="0"/>
              <a:t>  &lt;meta charset="UTF-8"&gt;</a:t>
            </a:r>
          </a:p>
          <a:p>
            <a:pPr eaLnBrk="1" latinLnBrk="1" hangingPunct="1"/>
            <a:r>
              <a:rPr lang="en-US" altLang="ko-KR" b="0"/>
              <a:t>  &lt;meta http-equiv="X-UA-Compatible" content="IE=edge"&gt;</a:t>
            </a:r>
          </a:p>
          <a:p>
            <a:pPr eaLnBrk="1" latinLnBrk="1" hangingPunct="1"/>
            <a:r>
              <a:rPr lang="en-US" altLang="ko-KR" b="0"/>
              <a:t>  &lt;meta name="viewport" content="width=device-width, initial-scale=1"&gt;</a:t>
            </a:r>
          </a:p>
          <a:p>
            <a:pPr eaLnBrk="1" latinLnBrk="1" hangingPunct="1"/>
            <a:r>
              <a:rPr lang="en-US" altLang="ko-KR" b="0"/>
              <a:t>  &lt;title&gt;</a:t>
            </a:r>
            <a:r>
              <a:rPr lang="ko-KR" altLang="en-US" b="0"/>
              <a:t>상단</a:t>
            </a:r>
            <a:r>
              <a:rPr lang="en-US" altLang="ko-KR" b="0"/>
              <a:t>: </a:t>
            </a:r>
            <a:r>
              <a:rPr lang="ko-KR" altLang="en-US" b="0"/>
              <a:t>헤더명</a:t>
            </a:r>
            <a:r>
              <a:rPr lang="en-US" altLang="ko-KR" b="0"/>
              <a:t>&lt;/title&gt;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&lt;!-- CSS: </a:t>
            </a:r>
            <a:r>
              <a:rPr lang="ko-KR" altLang="en-US" b="0"/>
              <a:t>상대경로 또는 절대경로 </a:t>
            </a:r>
            <a:r>
              <a:rPr lang="en-US" altLang="ko-KR" b="0"/>
              <a:t>--&gt;</a:t>
            </a:r>
          </a:p>
          <a:p>
            <a:pPr eaLnBrk="1" latinLnBrk="1" hangingPunct="1"/>
            <a:r>
              <a:rPr lang="en-US" altLang="ko-KR" b="0"/>
              <a:t>  &lt;link rel="stylesheet" href="css/style.css" type="text/css"&gt;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&lt;!-- SEO</a:t>
            </a:r>
            <a:r>
              <a:rPr lang="ko-KR" altLang="en-US" b="0"/>
              <a:t>를 위한 메타 태그 예시 </a:t>
            </a:r>
            <a:r>
              <a:rPr lang="en-US" altLang="ko-KR" b="0"/>
              <a:t>--&gt;</a:t>
            </a:r>
          </a:p>
          <a:p>
            <a:pPr eaLnBrk="1" latinLnBrk="1" hangingPunct="1"/>
            <a:r>
              <a:rPr lang="en-US" altLang="ko-KR" b="0"/>
              <a:t>  &lt;meta name="description" content="</a:t>
            </a:r>
            <a:r>
              <a:rPr lang="ko-KR" altLang="en-US" b="0"/>
              <a:t>페이지 간략 설명</a:t>
            </a:r>
            <a:r>
              <a:rPr lang="en-US" altLang="ko-KR" b="0"/>
              <a:t>"&gt;</a:t>
            </a:r>
          </a:p>
          <a:p>
            <a:pPr eaLnBrk="1" latinLnBrk="1" hangingPunct="1"/>
            <a:r>
              <a:rPr lang="en-US" altLang="ko-KR" b="0"/>
              <a:t>  &lt;meta name="keywords" content="</a:t>
            </a:r>
            <a:r>
              <a:rPr lang="ko-KR" altLang="en-US" b="0"/>
              <a:t>키워드</a:t>
            </a:r>
            <a:r>
              <a:rPr lang="en-US" altLang="ko-KR" b="0"/>
              <a:t>1, </a:t>
            </a:r>
            <a:r>
              <a:rPr lang="ko-KR" altLang="en-US" b="0"/>
              <a:t>키워드</a:t>
            </a:r>
            <a:r>
              <a:rPr lang="en-US" altLang="ko-KR" b="0"/>
              <a:t>2, </a:t>
            </a:r>
            <a:r>
              <a:rPr lang="ko-KR" altLang="en-US" b="0"/>
              <a:t>키워드</a:t>
            </a:r>
            <a:r>
              <a:rPr lang="en-US" altLang="ko-KR" b="0"/>
              <a:t>3"&gt;</a:t>
            </a:r>
          </a:p>
          <a:p>
            <a:pPr eaLnBrk="1" latinLnBrk="1" hangingPunct="1"/>
            <a:r>
              <a:rPr lang="en-US" altLang="ko-KR" b="0"/>
              <a:t>  &lt;meta name="author" content="</a:t>
            </a:r>
            <a:r>
              <a:rPr lang="ko-KR" altLang="en-US" b="0"/>
              <a:t>작성자명</a:t>
            </a:r>
            <a:r>
              <a:rPr lang="en-US" altLang="ko-KR" b="0"/>
              <a:t>"&gt;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&lt;!-- </a:t>
            </a:r>
            <a:r>
              <a:rPr lang="ko-KR" altLang="en-US" b="0"/>
              <a:t>파비콘 </a:t>
            </a:r>
            <a:r>
              <a:rPr lang="en-US" altLang="ko-KR" b="0"/>
              <a:t>(</a:t>
            </a:r>
            <a:r>
              <a:rPr lang="ko-KR" altLang="en-US" b="0"/>
              <a:t>필요 시</a:t>
            </a:r>
            <a:r>
              <a:rPr lang="en-US" altLang="ko-KR" b="0"/>
              <a:t>) --&gt;</a:t>
            </a:r>
          </a:p>
          <a:p>
            <a:pPr eaLnBrk="1" latinLnBrk="1" hangingPunct="1"/>
            <a:r>
              <a:rPr lang="en-US" altLang="ko-KR" b="0"/>
              <a:t>  &lt;link rel="icon" href="favicon.ico"&gt;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&lt;!-- </a:t>
            </a:r>
            <a:r>
              <a:rPr lang="ko-KR" altLang="en-US" b="0"/>
              <a:t>접근성 향상을 위한 스크립트</a:t>
            </a:r>
            <a:r>
              <a:rPr lang="en-US" altLang="ko-KR" b="0"/>
              <a:t>(</a:t>
            </a:r>
            <a:r>
              <a:rPr lang="ko-KR" altLang="en-US" b="0"/>
              <a:t>필요 시</a:t>
            </a:r>
            <a:r>
              <a:rPr lang="en-US" altLang="ko-KR" b="0"/>
              <a:t>) --&gt;</a:t>
            </a:r>
          </a:p>
          <a:p>
            <a:pPr eaLnBrk="1" latinLnBrk="1" hangingPunct="1"/>
            <a:r>
              <a:rPr lang="en-US" altLang="ko-KR" b="0"/>
              <a:t>  &lt;!-- &lt;script src="js/accessibility.js" defer&gt;&lt;/script&gt; --&gt;</a:t>
            </a:r>
          </a:p>
          <a:p>
            <a:pPr eaLnBrk="1" latinLnBrk="1" hangingPunct="1"/>
            <a:r>
              <a:rPr lang="en-US" altLang="ko-KR" b="0"/>
              <a:t>&lt;/head&gt;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266B70F8-32FF-CAA7-879C-C3424604F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12041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2.3 </a:t>
            </a:r>
            <a:r>
              <a:rPr lang="ko-KR" altLang="en-US" sz="1400" b="0" dirty="0">
                <a:latin typeface="+mj-lt"/>
                <a:ea typeface="굴림" charset="-127"/>
              </a:rPr>
              <a:t>초기파일</a:t>
            </a:r>
          </a:p>
        </p:txBody>
      </p:sp>
      <p:sp>
        <p:nvSpPr>
          <p:cNvPr id="20483" name="TextBox 10">
            <a:extLst>
              <a:ext uri="{FF2B5EF4-FFF2-40B4-BE49-F238E27FC236}">
                <a16:creationId xmlns:a16="http://schemas.microsoft.com/office/drawing/2014/main" id="{AC8E2EE0-66CD-C6C3-AFD5-ADC8B9FAD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592263"/>
            <a:ext cx="8178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b="0"/>
              <a:t>- </a:t>
            </a:r>
            <a:r>
              <a:rPr lang="ko-KR" altLang="en-US" b="0"/>
              <a:t>초기 파일</a:t>
            </a:r>
            <a:r>
              <a:rPr lang="en-US" altLang="ko-KR" b="0"/>
              <a:t>-2(</a:t>
            </a:r>
            <a:r>
              <a:rPr lang="ko-KR" altLang="en-US" b="0"/>
              <a:t>하단</a:t>
            </a:r>
            <a:r>
              <a:rPr lang="en-US" altLang="ko-KR" b="0"/>
              <a:t>)</a:t>
            </a:r>
            <a:endParaRPr lang="ko-KR" altLang="en-US" b="0"/>
          </a:p>
          <a:p>
            <a:pPr eaLnBrk="1" latinLnBrk="1" hangingPunct="1"/>
            <a:r>
              <a:rPr lang="ko-KR" altLang="en-US" b="0"/>
              <a:t>신규 </a:t>
            </a:r>
            <a:r>
              <a:rPr lang="en-US" altLang="ko-KR" b="0"/>
              <a:t>HTML </a:t>
            </a:r>
            <a:r>
              <a:rPr lang="ko-KR" altLang="en-US" b="0"/>
              <a:t>문서를 작성할 때 아래 파일을 기본으로 한다</a:t>
            </a:r>
            <a:r>
              <a:rPr lang="en-US" altLang="ko-KR" b="0"/>
              <a:t>.</a:t>
            </a:r>
            <a:endParaRPr lang="ko-KR" altLang="en-US" b="0"/>
          </a:p>
          <a:p>
            <a:pPr algn="just" eaLnBrk="1" latinLnBrk="1" hangingPunct="1"/>
            <a:endParaRPr lang="ko-KR" altLang="en-US" b="0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2AC0A3B0-4ADF-1F74-CF96-EA3A5FED3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A21DAA17-0EB4-3F29-6D5C-A6626E467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0486" name="Text Box 2">
            <a:extLst>
              <a:ext uri="{FF2B5EF4-FFF2-40B4-BE49-F238E27FC236}">
                <a16:creationId xmlns:a16="http://schemas.microsoft.com/office/drawing/2014/main" id="{5B84BECE-E210-E3EE-9BD6-C7DED85F1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>
                <a:latin typeface="굴림" panose="020B0600000101010101" pitchFamily="50" charset="-127"/>
                <a:ea typeface="굴림" panose="020B0600000101010101" pitchFamily="50" charset="-127"/>
              </a:rPr>
              <a:t> 구현 가이드 </a:t>
            </a:r>
            <a:endParaRPr lang="en-US" altLang="ko-KR" sz="1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487" name="TextBox 2">
            <a:extLst>
              <a:ext uri="{FF2B5EF4-FFF2-40B4-BE49-F238E27FC236}">
                <a16:creationId xmlns:a16="http://schemas.microsoft.com/office/drawing/2014/main" id="{EC7D43E8-A96A-256F-9254-EE03395D6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051050"/>
            <a:ext cx="8178800" cy="4110038"/>
          </a:xfrm>
          <a:prstGeom prst="rect">
            <a:avLst/>
          </a:prstGeom>
          <a:solidFill>
            <a:srgbClr val="DDD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&lt;body class=""&gt;</a:t>
            </a:r>
          </a:p>
          <a:p>
            <a:pPr eaLnBrk="1" latinLnBrk="1" hangingPunct="1">
              <a:lnSpc>
                <a:spcPct val="75000"/>
              </a:lnSpc>
            </a:pPr>
            <a:endParaRPr lang="en-US" altLang="ko-KR" b="0"/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&lt;!-- </a:t>
            </a:r>
            <a:r>
              <a:rPr lang="ko-KR" altLang="en-US" b="0"/>
              <a:t>스킵 링크</a:t>
            </a:r>
            <a:r>
              <a:rPr lang="en-US" altLang="ko-KR" b="0"/>
              <a:t>: </a:t>
            </a:r>
            <a:r>
              <a:rPr lang="ko-KR" altLang="en-US" b="0"/>
              <a:t>키보드 사용자 접근 편의 제공 </a:t>
            </a:r>
            <a:r>
              <a:rPr lang="en-US" altLang="ko-KR" b="0"/>
              <a:t>--&gt;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&lt;div class="u_skip"&gt;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  &lt;a href="#main-content" class="skip-link"&gt;</a:t>
            </a:r>
            <a:r>
              <a:rPr lang="ko-KR" altLang="en-US" b="0"/>
              <a:t>본문 바로가기</a:t>
            </a:r>
            <a:r>
              <a:rPr lang="en-US" altLang="ko-KR" b="0"/>
              <a:t>&lt;/a&gt;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&lt;/div&gt;</a:t>
            </a:r>
          </a:p>
          <a:p>
            <a:pPr eaLnBrk="1" latinLnBrk="1" hangingPunct="1">
              <a:lnSpc>
                <a:spcPct val="75000"/>
              </a:lnSpc>
            </a:pPr>
            <a:endParaRPr lang="en-US" altLang="ko-KR" b="0"/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&lt;!-- header: </a:t>
            </a:r>
            <a:r>
              <a:rPr lang="ko-KR" altLang="en-US" b="0"/>
              <a:t>사이트 상단 </a:t>
            </a:r>
            <a:r>
              <a:rPr lang="en-US" altLang="ko-KR" b="0"/>
              <a:t>--&gt;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&lt;header role="banner" id="header"&gt;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  &lt;!-- </a:t>
            </a:r>
            <a:r>
              <a:rPr lang="ko-KR" altLang="en-US" b="0"/>
              <a:t>헤더 내부 콘텐츠 삽입 </a:t>
            </a:r>
            <a:r>
              <a:rPr lang="en-US" altLang="ko-KR" b="0"/>
              <a:t>--&gt;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&lt;/header&gt;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&lt;!-- //header --&gt;</a:t>
            </a:r>
          </a:p>
          <a:p>
            <a:pPr eaLnBrk="1" latinLnBrk="1" hangingPunct="1">
              <a:lnSpc>
                <a:spcPct val="75000"/>
              </a:lnSpc>
            </a:pPr>
            <a:endParaRPr lang="en-US" altLang="ko-KR" b="0"/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&lt;!-- main content: </a:t>
            </a:r>
            <a:r>
              <a:rPr lang="ko-KR" altLang="en-US" b="0"/>
              <a:t>주요 콘텐츠 </a:t>
            </a:r>
            <a:r>
              <a:rPr lang="en-US" altLang="ko-KR" b="0"/>
              <a:t>--&gt;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&lt;main id="main-content" role="main"&gt;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  &lt;!-- </a:t>
            </a:r>
            <a:r>
              <a:rPr lang="ko-KR" altLang="en-US" b="0"/>
              <a:t>메인 콘텐츠 영역 </a:t>
            </a:r>
            <a:r>
              <a:rPr lang="en-US" altLang="ko-KR" b="0"/>
              <a:t>--&gt;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&lt;/main&gt;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&lt;!-- //main --&gt;</a:t>
            </a:r>
          </a:p>
          <a:p>
            <a:pPr eaLnBrk="1" latinLnBrk="1" hangingPunct="1">
              <a:lnSpc>
                <a:spcPct val="75000"/>
              </a:lnSpc>
            </a:pPr>
            <a:endParaRPr lang="en-US" altLang="ko-KR" b="0"/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&lt;hr&gt;</a:t>
            </a:r>
          </a:p>
          <a:p>
            <a:pPr eaLnBrk="1" latinLnBrk="1" hangingPunct="1">
              <a:lnSpc>
                <a:spcPct val="75000"/>
              </a:lnSpc>
            </a:pPr>
            <a:endParaRPr lang="en-US" altLang="ko-KR" b="0"/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&lt;!-- footer: </a:t>
            </a:r>
            <a:r>
              <a:rPr lang="ko-KR" altLang="en-US" b="0"/>
              <a:t>사이트 하단 </a:t>
            </a:r>
            <a:r>
              <a:rPr lang="en-US" altLang="ko-KR" b="0"/>
              <a:t>--&gt;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&lt;footer role="contentinfo" id="footer"&gt;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  &lt;!-- </a:t>
            </a:r>
            <a:r>
              <a:rPr lang="ko-KR" altLang="en-US" b="0"/>
              <a:t>푸터 콘텐츠 삽입 </a:t>
            </a:r>
            <a:r>
              <a:rPr lang="en-US" altLang="ko-KR" b="0"/>
              <a:t>--&gt;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&lt;/footer&gt;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  &lt;!-- //footer --&gt;</a:t>
            </a:r>
          </a:p>
          <a:p>
            <a:pPr eaLnBrk="1" latinLnBrk="1" hangingPunct="1">
              <a:lnSpc>
                <a:spcPct val="75000"/>
              </a:lnSpc>
            </a:pPr>
            <a:endParaRPr lang="en-US" altLang="ko-KR" b="0"/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&lt;/body&gt;</a:t>
            </a:r>
          </a:p>
          <a:p>
            <a:pPr eaLnBrk="1" latinLnBrk="1" hangingPunct="1">
              <a:lnSpc>
                <a:spcPct val="75000"/>
              </a:lnSpc>
            </a:pPr>
            <a:r>
              <a:rPr lang="en-US" altLang="ko-KR" b="0"/>
              <a:t>&lt;/html&gt;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C24F7B6A-D49B-EB27-3900-EA7526397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8451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2.4 </a:t>
            </a:r>
            <a:r>
              <a:rPr lang="ko-KR" altLang="en-US" sz="1400" b="0" dirty="0">
                <a:latin typeface="+mj-lt"/>
                <a:ea typeface="굴림" charset="-127"/>
              </a:rPr>
              <a:t>주석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2F180-53A8-9524-C394-4777F19FABFF}"/>
              </a:ext>
            </a:extLst>
          </p:cNvPr>
          <p:cNvSpPr txBox="1"/>
          <p:nvPr/>
        </p:nvSpPr>
        <p:spPr>
          <a:xfrm>
            <a:off x="519113" y="1712913"/>
            <a:ext cx="8178800" cy="39703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b="0" dirty="0"/>
              <a:t>- </a:t>
            </a:r>
            <a:r>
              <a:rPr lang="ko-KR" altLang="en-US" b="0" dirty="0"/>
              <a:t>주석</a:t>
            </a:r>
          </a:p>
          <a:p>
            <a:pPr marL="263525" indent="-179388" eaLnBrk="1" latinLnBrk="1" hangingPunct="1">
              <a:defRPr/>
            </a:pPr>
            <a:r>
              <a:rPr lang="en-US" altLang="ko-KR" b="0" dirty="0"/>
              <a:t>HTML </a:t>
            </a:r>
            <a:r>
              <a:rPr lang="ko-KR" altLang="en-US" b="0" dirty="0"/>
              <a:t>주석의 시작과 종료는 아래와 같이 표기하며</a:t>
            </a:r>
            <a:r>
              <a:rPr lang="en-US" altLang="ko-KR" b="0" dirty="0"/>
              <a:t>, </a:t>
            </a:r>
            <a:r>
              <a:rPr lang="ko-KR" altLang="en-US" b="0" dirty="0"/>
              <a:t>기본 형식에 맞게 작성한다</a:t>
            </a:r>
            <a:r>
              <a:rPr lang="en-US" altLang="ko-KR" b="0" dirty="0"/>
              <a:t>.</a:t>
            </a:r>
          </a:p>
          <a:p>
            <a:pPr marL="263525" indent="-179388" eaLnBrk="1" latinLnBrk="1" hangingPunct="1">
              <a:defRPr/>
            </a:pPr>
            <a:endParaRPr lang="ko-KR" altLang="en-US" b="0" dirty="0"/>
          </a:p>
          <a:p>
            <a:pPr marL="263525" indent="-179388" eaLnBrk="1" latinLnBrk="1" hangingPunct="1">
              <a:defRPr/>
            </a:pPr>
            <a:r>
              <a:rPr lang="ko-KR" altLang="en-US" b="0" dirty="0"/>
              <a:t>시작 주석 </a:t>
            </a:r>
            <a:r>
              <a:rPr lang="en-US" altLang="ko-KR" b="0" dirty="0"/>
              <a:t>&lt;!-- </a:t>
            </a:r>
            <a:r>
              <a:rPr lang="ko-KR" altLang="en-US" b="0" dirty="0"/>
              <a:t>주석 내용 </a:t>
            </a:r>
            <a:r>
              <a:rPr lang="en-US" altLang="ko-KR" b="0" dirty="0"/>
              <a:t>--&gt;</a:t>
            </a:r>
            <a:endParaRPr lang="ko-KR" altLang="en-US" b="0" dirty="0"/>
          </a:p>
          <a:p>
            <a:pPr marL="263525" indent="-179388" eaLnBrk="1" latinLnBrk="1" hangingPunct="1">
              <a:defRPr/>
            </a:pPr>
            <a:r>
              <a:rPr lang="ko-KR" altLang="en-US" b="0" dirty="0"/>
              <a:t>종료 주석 </a:t>
            </a:r>
            <a:r>
              <a:rPr lang="en-US" altLang="ko-KR" b="0" dirty="0"/>
              <a:t>&lt;!-- //</a:t>
            </a:r>
            <a:r>
              <a:rPr lang="ko-KR" altLang="en-US" b="0" dirty="0"/>
              <a:t>주석 내용 </a:t>
            </a:r>
            <a:r>
              <a:rPr lang="en-US" altLang="ko-KR" b="0" dirty="0"/>
              <a:t>--&gt;</a:t>
            </a:r>
          </a:p>
          <a:p>
            <a:pPr marL="263525" indent="-179388" eaLnBrk="1" latinLnBrk="1" hangingPunct="1">
              <a:defRPr/>
            </a:pPr>
            <a:endParaRPr lang="ko-KR" altLang="en-US" b="0" dirty="0"/>
          </a:p>
          <a:p>
            <a:pPr marL="263525" indent="-179388" eaLnBrk="1" latinLnBrk="1" hangingPunct="1">
              <a:defRPr/>
            </a:pPr>
            <a:r>
              <a:rPr lang="en-US" altLang="ko-KR" b="0" dirty="0"/>
              <a:t>• </a:t>
            </a:r>
            <a:r>
              <a:rPr lang="ko-KR" altLang="en-US" b="0" dirty="0"/>
              <a:t>주석 기호와 주석 내용 사이에는 반드시 공백 한 칸이 있어야 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263525" indent="-179388" eaLnBrk="1" latinLnBrk="1" hangingPunct="1">
              <a:defRPr/>
            </a:pPr>
            <a:r>
              <a:rPr lang="en-US" altLang="ko-KR" b="0" dirty="0"/>
              <a:t>• </a:t>
            </a:r>
            <a:r>
              <a:rPr lang="ko-KR" altLang="en-US" b="0" dirty="0"/>
              <a:t>주석 기호와 주석 내용 사이의 줄 바꿈은 허용하지 않는다</a:t>
            </a:r>
            <a:r>
              <a:rPr lang="en-US" altLang="ko-KR" b="0" dirty="0"/>
              <a:t>. </a:t>
            </a:r>
            <a:r>
              <a:rPr lang="ko-KR" altLang="en-US" b="0" dirty="0"/>
              <a:t>단</a:t>
            </a:r>
            <a:r>
              <a:rPr lang="en-US" altLang="ko-KR" b="0" dirty="0"/>
              <a:t>, </a:t>
            </a:r>
            <a:r>
              <a:rPr lang="ko-KR" altLang="en-US" b="0" dirty="0"/>
              <a:t>주석 내용 각 줄 바꿈은 허용한다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263525" indent="-179388" eaLnBrk="1" latinLnBrk="1" hangingPunct="1">
              <a:defRPr/>
            </a:pPr>
            <a:r>
              <a:rPr lang="en-US" altLang="ko-KR" b="0" dirty="0"/>
              <a:t>• </a:t>
            </a:r>
            <a:r>
              <a:rPr lang="ko-KR" altLang="en-US" b="0" dirty="0"/>
              <a:t>시작과 종료 주석의 주석 내용은 동일해야 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263525" indent="-179388" eaLnBrk="1" latinLnBrk="1" hangingPunct="1">
              <a:defRPr/>
            </a:pPr>
            <a:endParaRPr lang="en-US" altLang="ko-KR" b="0" dirty="0"/>
          </a:p>
          <a:p>
            <a:pPr marL="263525" indent="-179388" eaLnBrk="1" latinLnBrk="1" hangingPunct="1">
              <a:defRPr/>
            </a:pPr>
            <a:r>
              <a:rPr lang="en-US" altLang="ko-KR" b="0" dirty="0"/>
              <a:t>- </a:t>
            </a:r>
            <a:r>
              <a:rPr lang="ko-KR" altLang="en-US" b="0" dirty="0"/>
              <a:t>레이아웃 및 콘텐츠 영역의 주석 표기</a:t>
            </a:r>
          </a:p>
          <a:p>
            <a:pPr marL="263525" indent="-179388" eaLnBrk="1" latinLnBrk="1" hangingPunct="1">
              <a:defRPr/>
            </a:pPr>
            <a:r>
              <a:rPr lang="en-US" altLang="ko-KR" b="0" dirty="0"/>
              <a:t>  : wrap</a:t>
            </a:r>
            <a:r>
              <a:rPr lang="ko-KR" altLang="en-US" b="0" dirty="0"/>
              <a:t>을 제외한 레이아웃과 독립된 콘텐츠 영역의 시작과 끝에 주석을 표기하며</a:t>
            </a:r>
            <a:r>
              <a:rPr lang="en-US" altLang="ko-KR" b="0" dirty="0"/>
              <a:t>, </a:t>
            </a:r>
            <a:r>
              <a:rPr lang="ko-KR" altLang="en-US" b="0" dirty="0"/>
              <a:t>레이아웃은 </a:t>
            </a:r>
            <a:r>
              <a:rPr lang="en-US" altLang="ko-KR" b="0" dirty="0"/>
              <a:t>id </a:t>
            </a:r>
            <a:r>
              <a:rPr lang="ko-KR" altLang="en-US" b="0" dirty="0"/>
              <a:t>이름과 동일하게 주석을 넣는다</a:t>
            </a:r>
            <a:r>
              <a:rPr lang="en-US" altLang="ko-KR" b="0" dirty="0"/>
              <a:t>. </a:t>
            </a:r>
            <a:r>
              <a:rPr lang="ko-KR" altLang="en-US" b="0" dirty="0"/>
              <a:t>독립된 </a:t>
            </a:r>
            <a:r>
              <a:rPr lang="ko-KR" altLang="en-US" b="0" dirty="0" err="1"/>
              <a:t>콘텐츠</a:t>
            </a:r>
            <a:r>
              <a:rPr lang="ko-KR" altLang="en-US" b="0" dirty="0"/>
              <a:t> 영역의 주석 표기는 선택 사항이다</a:t>
            </a:r>
            <a:r>
              <a:rPr lang="en-US" altLang="ko-KR" b="0" dirty="0"/>
              <a:t>. HTML </a:t>
            </a:r>
            <a:r>
              <a:rPr lang="ko-KR" altLang="en-US" b="0" dirty="0"/>
              <a:t>코드와 주석은 줄로 분리해야 한다</a:t>
            </a:r>
            <a:r>
              <a:rPr lang="en-US" altLang="ko-KR" b="0" dirty="0"/>
              <a:t>.</a:t>
            </a:r>
          </a:p>
          <a:p>
            <a:pPr marL="263525" indent="-179388" eaLnBrk="1" latinLnBrk="1" hangingPunct="1">
              <a:defRPr/>
            </a:pPr>
            <a:endParaRPr lang="en-US" altLang="ko-KR" b="0" dirty="0"/>
          </a:p>
          <a:p>
            <a:pPr marL="263525" indent="-179388" eaLnBrk="1" latinLnBrk="1" hangingPunct="1">
              <a:defRPr/>
            </a:pPr>
            <a:r>
              <a:rPr lang="en-US" altLang="ko-KR" b="0" dirty="0"/>
              <a:t>- </a:t>
            </a:r>
            <a:r>
              <a:rPr lang="ko-KR" altLang="en-US" b="0" dirty="0"/>
              <a:t>개발 적용과 관련된 주석 표기</a:t>
            </a:r>
          </a:p>
          <a:p>
            <a:pPr marL="263525" indent="-179388" eaLnBrk="1" latinLnBrk="1" hangingPunct="1">
              <a:defRPr/>
            </a:pPr>
            <a:r>
              <a:rPr lang="ko-KR" altLang="en-US" b="0" dirty="0"/>
              <a:t>  </a:t>
            </a:r>
            <a:r>
              <a:rPr lang="en-US" altLang="ko-KR" b="0" dirty="0"/>
              <a:t>: </a:t>
            </a:r>
            <a:r>
              <a:rPr lang="ko-KR" altLang="en-US" b="0" dirty="0"/>
              <a:t>개발 적용과 관련된 주석은 해당하는 영역 위에 표기하며</a:t>
            </a:r>
            <a:r>
              <a:rPr lang="en-US" altLang="ko-KR" b="0" dirty="0"/>
              <a:t>, </a:t>
            </a:r>
            <a:r>
              <a:rPr lang="ko-KR" altLang="en-US" b="0" dirty="0"/>
              <a:t>종료 주석은 표기하지 않는다</a:t>
            </a:r>
            <a:r>
              <a:rPr lang="en-US" altLang="ko-KR" b="0" dirty="0"/>
              <a:t>. </a:t>
            </a:r>
            <a:r>
              <a:rPr lang="ko-KR" altLang="en-US" b="0" dirty="0"/>
              <a:t>주석 앞에는 </a:t>
            </a:r>
            <a:r>
              <a:rPr lang="en-US" altLang="ko-KR" b="0" dirty="0"/>
              <a:t>[D]</a:t>
            </a:r>
            <a:r>
              <a:rPr lang="ko-KR" altLang="en-US" b="0" dirty="0"/>
              <a:t>라는 말머리를 사용하여 담당 개발자가 반드시 확인할 수 있도록 한다</a:t>
            </a:r>
            <a:r>
              <a:rPr lang="en-US" altLang="ko-KR" b="0" dirty="0"/>
              <a:t>. </a:t>
            </a:r>
            <a:r>
              <a:rPr lang="ko-KR" altLang="en-US" b="0" dirty="0"/>
              <a:t>주석이 두 줄 이상이 되더라도 주석 기호는 한 번만 표기한다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263525" indent="-179388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52D6A958-A712-A5AF-E97F-0E6FBC479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18437" name="Text Box 2">
            <a:extLst>
              <a:ext uri="{FF2B5EF4-FFF2-40B4-BE49-F238E27FC236}">
                <a16:creationId xmlns:a16="http://schemas.microsoft.com/office/drawing/2014/main" id="{9D03A49A-6B43-47C8-C19C-50B393D40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7D7CFC83-0F10-1A9F-9617-54A0BAF0B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25876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2.5 HTML </a:t>
            </a:r>
            <a:r>
              <a:rPr lang="ko-KR" altLang="en-US" sz="1400" b="0" dirty="0" err="1">
                <a:latin typeface="+mj-lt"/>
                <a:ea typeface="굴림" charset="-127"/>
              </a:rPr>
              <a:t>엘리먼트</a:t>
            </a:r>
            <a:r>
              <a:rPr lang="ko-KR" altLang="en-US" sz="1400" b="0" dirty="0">
                <a:latin typeface="+mj-lt"/>
                <a:ea typeface="굴림" charset="-127"/>
              </a:rPr>
              <a:t> 작성 규칙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FCCFC-185D-77A1-CB36-2AF66636683E}"/>
              </a:ext>
            </a:extLst>
          </p:cNvPr>
          <p:cNvSpPr txBox="1"/>
          <p:nvPr/>
        </p:nvSpPr>
        <p:spPr>
          <a:xfrm>
            <a:off x="519113" y="1712913"/>
            <a:ext cx="8178800" cy="138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b="0" dirty="0"/>
              <a:t>- </a:t>
            </a:r>
            <a:r>
              <a:rPr lang="ko-KR" altLang="en-US" b="0" dirty="0"/>
              <a:t>기본 규칙</a:t>
            </a:r>
          </a:p>
          <a:p>
            <a:pPr marL="84138" eaLnBrk="1" latinLnBrk="1" hangingPunct="1">
              <a:defRPr/>
            </a:pPr>
            <a:r>
              <a:rPr lang="ko-KR" altLang="en-US" b="0" dirty="0" err="1"/>
              <a:t>특정 엘리먼트에 </a:t>
            </a:r>
            <a:r>
              <a:rPr lang="en-US" altLang="ko-KR" b="0" dirty="0" err="1"/>
              <a:t>class, style</a:t>
            </a:r>
            <a:r>
              <a:rPr lang="ko-KR" altLang="en-US" b="0" dirty="0"/>
              <a:t>을 선언할 때는 항상 속성의 맨 뒤에 위치시키는 것이 원칙이다</a:t>
            </a:r>
            <a:r>
              <a:rPr lang="en-US" altLang="ko-KR" b="0" dirty="0"/>
              <a:t>. </a:t>
            </a:r>
            <a:br>
              <a:rPr lang="en-US" altLang="ko-KR" b="0" dirty="0"/>
            </a:br>
            <a:r>
              <a:rPr lang="ko-KR" altLang="en-US" b="0" dirty="0"/>
              <a:t>다음과 같이 </a:t>
            </a:r>
            <a:r>
              <a:rPr lang="en-US" altLang="ko-KR" b="0" dirty="0"/>
              <a:t>id, name, title, aria-* </a:t>
            </a:r>
            <a:r>
              <a:rPr lang="ko-KR" altLang="en-US" b="0" dirty="0"/>
              <a:t>등의 속성들을 먼저 선언한 후 </a:t>
            </a:r>
            <a:r>
              <a:rPr lang="en-US" altLang="ko-KR" b="0" dirty="0"/>
              <a:t>class, style</a:t>
            </a:r>
            <a:r>
              <a:rPr lang="ko-KR" altLang="en-US" b="0" dirty="0"/>
              <a:t>을 나중에 작성한다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263525" indent="-179388" eaLnBrk="1" latinLnBrk="1" hangingPunct="1">
              <a:defRPr/>
            </a:pPr>
            <a:endParaRPr lang="ko-KR" altLang="en-US" dirty="0"/>
          </a:p>
          <a:p>
            <a:pPr marL="263525" indent="-179388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ABA8FFA5-A4EA-5DAD-106B-4FE67A033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3373650A-87B0-30D4-3F13-F74D23C6A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616C1C6F-DC58-2039-EC9E-B3547F19C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1511" name="Text Box 2">
            <a:extLst>
              <a:ext uri="{FF2B5EF4-FFF2-40B4-BE49-F238E27FC236}">
                <a16:creationId xmlns:a16="http://schemas.microsoft.com/office/drawing/2014/main" id="{C00E9081-F3CA-C401-EFF7-03EECD73D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1512" name="TextBox 2">
            <a:extLst>
              <a:ext uri="{FF2B5EF4-FFF2-40B4-BE49-F238E27FC236}">
                <a16:creationId xmlns:a16="http://schemas.microsoft.com/office/drawing/2014/main" id="{1A6C50E3-67D4-ED03-EF3F-50F8AB617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420938"/>
            <a:ext cx="8178800" cy="2549525"/>
          </a:xfrm>
          <a:prstGeom prst="rect">
            <a:avLst/>
          </a:prstGeom>
          <a:solidFill>
            <a:srgbClr val="DDD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&lt;input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  type="text"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  id="user_id"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  name="user_id"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  title="</a:t>
            </a:r>
            <a:r>
              <a:rPr lang="ko-KR" altLang="en-US" b="0"/>
              <a:t>사용자 </a:t>
            </a:r>
            <a:r>
              <a:rPr lang="en-US" altLang="ko-KR" b="0"/>
              <a:t>ID"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  aria-label="</a:t>
            </a:r>
            <a:r>
              <a:rPr lang="ko-KR" altLang="en-US" b="0"/>
              <a:t>사용자 </a:t>
            </a:r>
            <a:r>
              <a:rPr lang="en-US" altLang="ko-KR" b="0"/>
              <a:t>ID </a:t>
            </a:r>
            <a:r>
              <a:rPr lang="ko-KR" altLang="en-US" b="0"/>
              <a:t>입력란</a:t>
            </a:r>
            <a:r>
              <a:rPr lang="en-US" altLang="ko-KR" b="0"/>
              <a:t>"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  class="input_txt"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  style="width: 100px;"</a:t>
            </a:r>
          </a:p>
          <a:p>
            <a:pPr eaLnBrk="1" latinLnBrk="1" hangingPunct="1">
              <a:lnSpc>
                <a:spcPct val="150000"/>
              </a:lnSpc>
            </a:pPr>
            <a:r>
              <a:rPr lang="en-US" altLang="ko-KR" b="0"/>
              <a:t>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96046762-317F-5155-26E5-3D55FBD80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2687637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2.5 </a:t>
            </a:r>
            <a:r>
              <a:rPr lang="en-US" altLang="ko-KR" sz="1400" b="0" dirty="0">
                <a:latin typeface="+mj-lt"/>
              </a:rPr>
              <a:t>HTML </a:t>
            </a:r>
            <a:r>
              <a:rPr lang="ko-KR" altLang="en-US" sz="1400" b="0" dirty="0" err="1">
                <a:latin typeface="+mj-lt"/>
              </a:rPr>
              <a:t>엘리먼트</a:t>
            </a:r>
            <a:r>
              <a:rPr lang="ko-KR" altLang="en-US" sz="1400" b="0" dirty="0">
                <a:latin typeface="+mj-lt"/>
              </a:rPr>
              <a:t> 작성 규칙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A83B01-783E-2453-299B-3F3B472F5455}"/>
              </a:ext>
            </a:extLst>
          </p:cNvPr>
          <p:cNvSpPr txBox="1"/>
          <p:nvPr/>
        </p:nvSpPr>
        <p:spPr>
          <a:xfrm>
            <a:off x="519113" y="1712913"/>
            <a:ext cx="81788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b="0" dirty="0"/>
              <a:t>- </a:t>
            </a:r>
            <a:r>
              <a:rPr lang="ko-KR" altLang="en-US" b="0" dirty="0"/>
              <a:t>폼 </a:t>
            </a:r>
            <a:r>
              <a:rPr lang="ko-KR" altLang="en-US" b="0" dirty="0" err="1"/>
              <a:t>엘리먼트</a:t>
            </a:r>
            <a:endParaRPr lang="ko-KR" altLang="en-US" b="0" dirty="0"/>
          </a:p>
          <a:p>
            <a:pPr marL="84138" eaLnBrk="1" latinLnBrk="1" hangingPunct="1">
              <a:defRPr/>
            </a:pPr>
            <a:r>
              <a:rPr lang="ko-KR" altLang="en-US" b="0" dirty="0"/>
              <a:t>폼 컨트롤 </a:t>
            </a:r>
            <a:r>
              <a:rPr lang="ko-KR" altLang="en-US" b="0" dirty="0" err="1"/>
              <a:t>엘리먼트를</a:t>
            </a:r>
            <a:r>
              <a:rPr lang="ko-KR" altLang="en-US" b="0" dirty="0"/>
              <a:t> </a:t>
            </a:r>
            <a:r>
              <a:rPr lang="ko-KR" altLang="en-US" b="0" dirty="0" err="1"/>
              <a:t>링크업할</a:t>
            </a:r>
            <a:r>
              <a:rPr lang="ko-KR" altLang="en-US" b="0" dirty="0"/>
              <a:t> 때 </a:t>
            </a:r>
            <a:r>
              <a:rPr lang="en-US" altLang="ko-KR" b="0" dirty="0"/>
              <a:t>&lt;form&gt;, &lt;</a:t>
            </a:r>
            <a:r>
              <a:rPr lang="en-US" altLang="ko-KR" b="0" dirty="0" err="1"/>
              <a:t>fieldset</a:t>
            </a:r>
            <a:r>
              <a:rPr lang="en-US" altLang="ko-KR" b="0" dirty="0"/>
              <a:t>&gt;, &lt;legend&gt; </a:t>
            </a:r>
            <a:r>
              <a:rPr lang="ko-KR" altLang="en-US" b="0" dirty="0" err="1"/>
              <a:t>엘리먼트를</a:t>
            </a:r>
            <a:r>
              <a:rPr lang="ko-KR" altLang="en-US" b="0" dirty="0"/>
              <a:t> 다음과 같이 선언한다</a:t>
            </a:r>
            <a:r>
              <a:rPr lang="en-US" altLang="ko-KR" b="0" dirty="0"/>
              <a:t>. </a:t>
            </a:r>
            <a:r>
              <a:rPr lang="ko-KR" altLang="en-US" b="0" dirty="0"/>
              <a:t>단</a:t>
            </a:r>
            <a:r>
              <a:rPr lang="en-US" altLang="ko-KR" b="0" dirty="0"/>
              <a:t>, </a:t>
            </a:r>
            <a:r>
              <a:rPr lang="ko-KR" altLang="en-US" b="0" dirty="0"/>
              <a:t>필요에 따라 개별적으로 사용할 수 있다</a:t>
            </a:r>
            <a:r>
              <a:rPr lang="en-US" altLang="ko-KR" b="0" dirty="0"/>
              <a:t>.</a:t>
            </a:r>
            <a:endParaRPr lang="ko-KR" altLang="en-US" dirty="0"/>
          </a:p>
          <a:p>
            <a:pPr marL="263525" indent="-179388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D9489F92-1CFF-6C54-3043-33ABCF1C0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FB29ED33-653F-B6AF-68EB-F548954B3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2534" name="Rectangle 2">
            <a:extLst>
              <a:ext uri="{FF2B5EF4-FFF2-40B4-BE49-F238E27FC236}">
                <a16:creationId xmlns:a16="http://schemas.microsoft.com/office/drawing/2014/main" id="{C8E8C557-4DF9-FEF9-AC44-0A9348C51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2535" name="Rectangle 2">
            <a:extLst>
              <a:ext uri="{FF2B5EF4-FFF2-40B4-BE49-F238E27FC236}">
                <a16:creationId xmlns:a16="http://schemas.microsoft.com/office/drawing/2014/main" id="{C3392415-E6AF-88A8-BF3E-4AA272B65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2536" name="Text Box 2">
            <a:extLst>
              <a:ext uri="{FF2B5EF4-FFF2-40B4-BE49-F238E27FC236}">
                <a16:creationId xmlns:a16="http://schemas.microsoft.com/office/drawing/2014/main" id="{8185EDCD-8C55-52CD-9978-5B276C1B3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2537" name="TextBox 2">
            <a:extLst>
              <a:ext uri="{FF2B5EF4-FFF2-40B4-BE49-F238E27FC236}">
                <a16:creationId xmlns:a16="http://schemas.microsoft.com/office/drawing/2014/main" id="{1A516EFB-08EF-A61B-4811-01B2A0F60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379663"/>
            <a:ext cx="8178800" cy="3786187"/>
          </a:xfrm>
          <a:prstGeom prst="rect">
            <a:avLst/>
          </a:prstGeom>
          <a:solidFill>
            <a:srgbClr val="DDD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en-US" altLang="ko-KR" b="0"/>
              <a:t>&lt;form&gt;</a:t>
            </a:r>
          </a:p>
          <a:p>
            <a:pPr eaLnBrk="1" latinLnBrk="1" hangingPunct="1"/>
            <a:r>
              <a:rPr lang="en-US" altLang="ko-KR" b="0"/>
              <a:t>  &lt;fieldset&gt;</a:t>
            </a:r>
          </a:p>
          <a:p>
            <a:pPr eaLnBrk="1" latinLnBrk="1" hangingPunct="1"/>
            <a:r>
              <a:rPr lang="en-US" altLang="ko-KR" b="0"/>
              <a:t>    &lt;legend&gt;</a:t>
            </a:r>
            <a:r>
              <a:rPr lang="ko-KR" altLang="en-US" b="0"/>
              <a:t>개인정보</a:t>
            </a:r>
            <a:r>
              <a:rPr lang="en-US" altLang="ko-KR" b="0"/>
              <a:t>&lt;/legend&gt;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  &lt;label for="name"&gt;</a:t>
            </a:r>
            <a:r>
              <a:rPr lang="ko-KR" altLang="en-US" b="0"/>
              <a:t>이름</a:t>
            </a:r>
            <a:r>
              <a:rPr lang="en-US" altLang="ko-KR" b="0"/>
              <a:t>:&lt;/label&gt;</a:t>
            </a:r>
          </a:p>
          <a:p>
            <a:pPr eaLnBrk="1" latinLnBrk="1" hangingPunct="1"/>
            <a:r>
              <a:rPr lang="en-US" altLang="ko-KR" b="0"/>
              <a:t>    &lt;input type="text" id="name" name="name" placeholder="</a:t>
            </a:r>
            <a:r>
              <a:rPr lang="ko-KR" altLang="en-US" b="0"/>
              <a:t>이름을 입력하세요</a:t>
            </a:r>
            <a:r>
              <a:rPr lang="en-US" altLang="ko-KR" b="0"/>
              <a:t>" required&gt;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  &lt;label for="email"&gt;</a:t>
            </a:r>
            <a:r>
              <a:rPr lang="ko-KR" altLang="en-US" b="0"/>
              <a:t>이메일</a:t>
            </a:r>
            <a:r>
              <a:rPr lang="en-US" altLang="ko-KR" b="0"/>
              <a:t>:&lt;/label&gt;</a:t>
            </a:r>
          </a:p>
          <a:p>
            <a:pPr eaLnBrk="1" latinLnBrk="1" hangingPunct="1"/>
            <a:r>
              <a:rPr lang="en-US" altLang="ko-KR" b="0"/>
              <a:t>    &lt;input type="email" id="email" name="email" placeholder="example@example.com" required&gt;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  &lt;label for="birthdate"&gt;</a:t>
            </a:r>
            <a:r>
              <a:rPr lang="ko-KR" altLang="en-US" b="0"/>
              <a:t>생년월일</a:t>
            </a:r>
            <a:r>
              <a:rPr lang="en-US" altLang="ko-KR" b="0"/>
              <a:t>:&lt;/label&gt;</a:t>
            </a:r>
          </a:p>
          <a:p>
            <a:pPr eaLnBrk="1" latinLnBrk="1" hangingPunct="1"/>
            <a:r>
              <a:rPr lang="en-US" altLang="ko-KR" b="0"/>
              <a:t>    &lt;input type="date" id="birthdate" name="birthdate" required&gt;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  &lt;label for="phone"&gt;</a:t>
            </a:r>
            <a:r>
              <a:rPr lang="ko-KR" altLang="en-US" b="0"/>
              <a:t>전화번호</a:t>
            </a:r>
            <a:r>
              <a:rPr lang="en-US" altLang="ko-KR" b="0"/>
              <a:t>:&lt;/label&gt;</a:t>
            </a:r>
          </a:p>
          <a:p>
            <a:pPr eaLnBrk="1" latinLnBrk="1" hangingPunct="1"/>
            <a:r>
              <a:rPr lang="en-US" altLang="ko-KR" b="0"/>
              <a:t>    &lt;input type="tel" id="phone" name="phone" placeholder="010-1234-5678" pattern="[0-9]{3}-[0-9]{4}-[0-9]{4}"&gt;</a:t>
            </a:r>
          </a:p>
          <a:p>
            <a:pPr eaLnBrk="1" latinLnBrk="1" hangingPunct="1"/>
            <a:endParaRPr lang="en-US" altLang="ko-KR" b="0"/>
          </a:p>
          <a:p>
            <a:pPr eaLnBrk="1" latinLnBrk="1" hangingPunct="1"/>
            <a:r>
              <a:rPr lang="en-US" altLang="ko-KR" b="0"/>
              <a:t>    &lt;button type="submit"&gt;</a:t>
            </a:r>
            <a:r>
              <a:rPr lang="ko-KR" altLang="en-US" b="0"/>
              <a:t>제출</a:t>
            </a:r>
            <a:r>
              <a:rPr lang="en-US" altLang="ko-KR" b="0"/>
              <a:t>&lt;/button&gt;</a:t>
            </a:r>
          </a:p>
          <a:p>
            <a:pPr eaLnBrk="1" latinLnBrk="1" hangingPunct="1"/>
            <a:r>
              <a:rPr lang="en-US" altLang="ko-KR" b="0"/>
              <a:t>  &lt;/fieldset&gt;</a:t>
            </a:r>
          </a:p>
          <a:p>
            <a:pPr eaLnBrk="1" latinLnBrk="1" hangingPunct="1"/>
            <a:r>
              <a:rPr lang="en-US" altLang="ko-KR" b="0"/>
              <a:t>&lt;/form&gt;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2646D964-0D60-D50F-C18D-69005E9DE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1201738"/>
            <a:ext cx="25876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sz="1400" b="0" dirty="0">
                <a:latin typeface="+mj-lt"/>
                <a:ea typeface="굴림" charset="-127"/>
              </a:rPr>
              <a:t>2.5 </a:t>
            </a:r>
            <a:r>
              <a:rPr lang="en-US" altLang="ko-KR" sz="1400" b="0" dirty="0">
                <a:latin typeface="+mj-lt"/>
              </a:rPr>
              <a:t>HTML </a:t>
            </a:r>
            <a:r>
              <a:rPr lang="ko-KR" altLang="en-US" sz="1400" b="0" dirty="0" err="1">
                <a:latin typeface="+mj-lt"/>
              </a:rPr>
              <a:t>엘리먼트</a:t>
            </a:r>
            <a:r>
              <a:rPr lang="ko-KR" altLang="en-US" sz="1400" b="0" dirty="0">
                <a:latin typeface="+mj-lt"/>
              </a:rPr>
              <a:t> 작성 규칙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C65BB-C719-C310-B199-6843A3363A3F}"/>
              </a:ext>
            </a:extLst>
          </p:cNvPr>
          <p:cNvSpPr txBox="1"/>
          <p:nvPr/>
        </p:nvSpPr>
        <p:spPr>
          <a:xfrm>
            <a:off x="519113" y="1581150"/>
            <a:ext cx="81788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b="0" dirty="0"/>
              <a:t>- </a:t>
            </a:r>
            <a:r>
              <a:rPr lang="ko-KR" altLang="en-US" b="0" dirty="0"/>
              <a:t>표 </a:t>
            </a:r>
            <a:r>
              <a:rPr lang="ko-KR" altLang="en-US" b="0" dirty="0" err="1"/>
              <a:t>엘리먼트</a:t>
            </a:r>
            <a:endParaRPr lang="ko-KR" altLang="en-US" b="0" dirty="0"/>
          </a:p>
          <a:p>
            <a:pPr marL="84138" eaLnBrk="1" latinLnBrk="1" hangingPunct="1">
              <a:defRPr/>
            </a:pPr>
            <a:r>
              <a:rPr lang="ko-KR" altLang="en-US" b="0" dirty="0"/>
              <a:t>표 </a:t>
            </a:r>
            <a:r>
              <a:rPr lang="ko-KR" altLang="en-US" b="0" dirty="0" err="1"/>
              <a:t>엘리먼트를</a:t>
            </a:r>
            <a:r>
              <a:rPr lang="ko-KR" altLang="en-US" b="0" dirty="0"/>
              <a:t> 아래와 같이 배치한다</a:t>
            </a:r>
            <a:r>
              <a:rPr lang="en-US" altLang="ko-KR" b="0" dirty="0"/>
              <a:t>.</a:t>
            </a:r>
            <a:endParaRPr lang="ko-KR" altLang="en-US" b="0" dirty="0"/>
          </a:p>
          <a:p>
            <a:pPr marL="263525" indent="-179388" eaLnBrk="1" latinLnBrk="1" hangingPunct="1">
              <a:defRPr/>
            </a:pPr>
            <a:endParaRPr lang="ko-KR" altLang="en-US" dirty="0"/>
          </a:p>
          <a:p>
            <a:pPr marL="263525" indent="-179388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  <a:p>
            <a:pPr algn="just" eaLnBrk="1" latinLnBrk="1" hangingPunct="1">
              <a:defRPr/>
            </a:pPr>
            <a:endParaRPr lang="ko-KR" altLang="en-US" b="0" dirty="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AEE56D2C-6342-1345-CC38-B9D77D7FC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512370C4-3E8D-5B75-80FC-9103A40B7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FA54916F-F9DE-E3FC-E299-76E4D2464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3559" name="Rectangle 2">
            <a:extLst>
              <a:ext uri="{FF2B5EF4-FFF2-40B4-BE49-F238E27FC236}">
                <a16:creationId xmlns:a16="http://schemas.microsoft.com/office/drawing/2014/main" id="{7018390D-67B0-1BCD-BC95-3423C8A47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buFontTx/>
              <a:buChar char="•"/>
            </a:pPr>
            <a:endParaRPr lang="ko-KR" altLang="en-US"/>
          </a:p>
        </p:txBody>
      </p:sp>
      <p:sp>
        <p:nvSpPr>
          <p:cNvPr id="23560" name="Text Box 2">
            <a:extLst>
              <a:ext uri="{FF2B5EF4-FFF2-40B4-BE49-F238E27FC236}">
                <a16:creationId xmlns:a16="http://schemas.microsoft.com/office/drawing/2014/main" id="{37BC04BE-53B7-44E4-A17C-8DE21DCBB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742950"/>
            <a:ext cx="48434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2. UI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 구현 표준 가이드 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561" name="TextBox 2">
            <a:extLst>
              <a:ext uri="{FF2B5EF4-FFF2-40B4-BE49-F238E27FC236}">
                <a16:creationId xmlns:a16="http://schemas.microsoft.com/office/drawing/2014/main" id="{B0E10721-A93C-6CF0-70A5-3AEB8D36C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051050"/>
            <a:ext cx="8178800" cy="4178300"/>
          </a:xfrm>
          <a:prstGeom prst="rect">
            <a:avLst/>
          </a:prstGeom>
          <a:solidFill>
            <a:srgbClr val="DDD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&lt;table summary="</a:t>
            </a:r>
            <a:r>
              <a:rPr lang="ko-KR" altLang="en-US" b="0"/>
              <a:t>짬뽕은 자장면보다 </a:t>
            </a:r>
            <a:r>
              <a:rPr lang="en-US" altLang="ko-KR" b="0"/>
              <a:t>500</a:t>
            </a:r>
            <a:r>
              <a:rPr lang="ko-KR" altLang="en-US" b="0"/>
              <a:t>원 비싸고 열량이 </a:t>
            </a:r>
            <a:r>
              <a:rPr lang="en-US" altLang="ko-KR" b="0"/>
              <a:t>50kcal </a:t>
            </a:r>
            <a:r>
              <a:rPr lang="ko-KR" altLang="en-US" b="0"/>
              <a:t>높다</a:t>
            </a:r>
            <a:r>
              <a:rPr lang="en-US" altLang="ko-KR" b="0"/>
              <a:t>" role="table" aria-describedby="caption1"&gt;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&lt;caption id="caption1"&gt;</a:t>
            </a:r>
            <a:r>
              <a:rPr lang="ko-KR" altLang="en-US" b="0"/>
              <a:t>자장면과 짬뽕의 가격과 열량 비교</a:t>
            </a:r>
            <a:r>
              <a:rPr lang="en-US" altLang="ko-KR" b="0"/>
              <a:t>&lt;/caption&gt;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&lt;colgroup&gt;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&lt;col style="width: 150px;"&gt;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&lt;col style="width: 100px;"&gt;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&lt;col style="width: 100px;"&gt;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&lt;/colgroup&gt;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&lt;thead&gt;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&lt;th scope="col"&gt;</a:t>
            </a:r>
            <a:r>
              <a:rPr lang="ko-KR" altLang="en-US" b="0"/>
              <a:t>구분</a:t>
            </a:r>
            <a:r>
              <a:rPr lang="en-US" altLang="ko-KR" b="0"/>
              <a:t>&lt;/th&gt;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&lt;th scope="col"&gt;</a:t>
            </a:r>
            <a:r>
              <a:rPr lang="ko-KR" altLang="en-US" b="0"/>
              <a:t>가격 </a:t>
            </a:r>
            <a:r>
              <a:rPr lang="en-US" altLang="ko-KR" b="0"/>
              <a:t>(</a:t>
            </a:r>
            <a:r>
              <a:rPr lang="ko-KR" altLang="en-US" b="0"/>
              <a:t>원</a:t>
            </a:r>
            <a:r>
              <a:rPr lang="en-US" altLang="ko-KR" b="0"/>
              <a:t>)&lt;/th&gt;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&lt;th scope="col"&gt;</a:t>
            </a:r>
            <a:r>
              <a:rPr lang="ko-KR" altLang="en-US" b="0"/>
              <a:t>열량 </a:t>
            </a:r>
            <a:r>
              <a:rPr lang="en-US" altLang="ko-KR" b="0"/>
              <a:t>(kcal)&lt;/th&gt;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&lt;/tr&gt;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&lt;/thead&gt;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&lt;tbody&gt;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&lt;th scope="row"&gt;</a:t>
            </a:r>
            <a:r>
              <a:rPr lang="ko-KR" altLang="en-US" b="0"/>
              <a:t>자장면</a:t>
            </a:r>
            <a:r>
              <a:rPr lang="en-US" altLang="ko-KR" b="0"/>
              <a:t>&lt;/th&gt;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&lt;td&gt;3,000&lt;/td&gt;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&lt;td&gt;300&lt;/td&gt;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&lt;/tr&gt;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&lt;th scope="row"&gt;</a:t>
            </a:r>
            <a:r>
              <a:rPr lang="ko-KR" altLang="en-US" b="0"/>
              <a:t>짬뽕</a:t>
            </a:r>
            <a:r>
              <a:rPr lang="en-US" altLang="ko-KR" b="0"/>
              <a:t>&lt;/th&gt;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&lt;td&gt;3,500&lt;/td&gt;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&lt;td&gt;350&lt;/td&gt;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&lt;/tr&gt;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&lt;/tbody&gt;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&lt;tfoot&gt;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&lt;th scope="row"&gt;</a:t>
            </a:r>
            <a:r>
              <a:rPr lang="ko-KR" altLang="en-US" b="0"/>
              <a:t>계</a:t>
            </a:r>
            <a:r>
              <a:rPr lang="en-US" altLang="ko-KR" b="0"/>
              <a:t>&lt;/th&gt;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&lt;td&gt;6,500&lt;/td&gt;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  &lt;td&gt;650&lt;/td&gt;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  &lt;/tr&gt;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  &lt;/tfoot&gt;</a:t>
            </a:r>
          </a:p>
          <a:p>
            <a:pPr eaLnBrk="1" latinLnBrk="1" hangingPunct="1">
              <a:lnSpc>
                <a:spcPct val="65000"/>
              </a:lnSpc>
            </a:pPr>
            <a:r>
              <a:rPr lang="en-US" altLang="ko-KR" b="0"/>
              <a:t>&lt;/table&gt;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8">
            <a:extLst>
              <a:ext uri="{FF2B5EF4-FFF2-40B4-BE49-F238E27FC236}">
                <a16:creationId xmlns:a16="http://schemas.microsoft.com/office/drawing/2014/main" id="{08882C30-71C1-EF50-A044-7873D1F19D0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9606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ble of Contents">
  <a:themeElements>
    <a:clrScheme name="Table of Conten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able of Contents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609600" marR="0" indent="-60960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AutoNum type="romanUcPeriod"/>
          <a:tabLst/>
          <a:defRPr kumimoji="1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609600" marR="0" indent="-60960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AutoNum type="romanUcPeriod"/>
          <a:tabLst/>
          <a:defRPr kumimoji="1" lang="ko-KR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lnDef>
  </a:objectDefaults>
  <a:extraClrSchemeLst>
    <a:extraClrScheme>
      <a:clrScheme name="Table of Conten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ble of Conten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ble of Conten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ble of Conten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ble of Conten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ble of Conten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ble of Conten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ble of Conten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ble of Conten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ble of Conten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ble of Conten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ble of Conten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2115829</TotalTime>
  <Words>2370</Words>
  <Application>Microsoft Office PowerPoint</Application>
  <PresentationFormat>화면 슬라이드 쇼(4:3)</PresentationFormat>
  <Paragraphs>377</Paragraphs>
  <Slides>18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Kozuka Mincho Pro M</vt:lpstr>
      <vt:lpstr>굴림</vt:lpstr>
      <vt:lpstr>굴림체</vt:lpstr>
      <vt:lpstr>돋움</vt:lpstr>
      <vt:lpstr>맑은 고딕</vt:lpstr>
      <vt:lpstr>함초롬바탕</vt:lpstr>
      <vt:lpstr>Arial</vt:lpstr>
      <vt:lpstr>Wingdings</vt:lpstr>
      <vt:lpstr>Table of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>솔루피아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UI표준가이드</dc:title>
  <dc:creator>이현주</dc:creator>
  <cp:lastModifiedBy>ezen</cp:lastModifiedBy>
  <cp:revision>1742</cp:revision>
  <dcterms:created xsi:type="dcterms:W3CDTF">2001-07-30T10:31:54Z</dcterms:created>
  <dcterms:modified xsi:type="dcterms:W3CDTF">2026-01-28T06:35:32Z</dcterms:modified>
</cp:coreProperties>
</file>